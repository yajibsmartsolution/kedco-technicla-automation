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DCO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A2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KEDCO TECHNICAL AUTOMATION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0" y="657453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YAJIB SMART SOLUTION UNIVERSAL LIMITED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edco_app_extract/KEDCO-Automation-LOCAL-STORAGE-COMPLETE/frontend/assets/kedco-landing-slide-0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74000"/>
            </a:srgbClr>
          </a:solidFill>
          <a:ln w="12700">
            <a:solidFill>
              <a:srgbClr val="061A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61A33">
              <a:alpha val="85000"/>
            </a:srgbClr>
          </a:solidFill>
          <a:ln w="12700">
            <a:solidFill>
              <a:srgbClr val="061A33">
                <a:alpha val="0"/>
              </a:srgbClr>
            </a:solidFill>
            <a:prstDash val="solid"/>
          </a:ln>
        </p:spPr>
      </p:sp>
      <p:pic>
        <p:nvPicPr>
          <p:cNvPr id="5" name="Image 1" descr="/mnt/data/kedc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08" y="438912"/>
            <a:ext cx="2072640" cy="6217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389888"/>
            <a:ext cx="5806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KEDCO TECHNICAL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 PLATFORM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713232" y="288036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E9FB"/>
                </a:solidFill>
              </a:rPr>
              <a:t>Executive Management &amp; Implementation Contract Proposal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13232" y="3493008"/>
            <a:ext cx="5303520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5EEF8"/>
                </a:solidFill>
              </a:rPr>
              <a:t>A comprehensive, implementation-ready operating platform for dispatch, feeder intelligence, technical workflows, departmental control, Local Cloud records and executive decision support.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13232" y="4818888"/>
            <a:ext cx="2423160" cy="256032"/>
          </a:xfrm>
          <a:prstGeom prst="rect">
            <a:avLst/>
          </a:prstGeom>
          <a:solidFill>
            <a:srgbClr val="F0C94D"/>
          </a:solidFill>
          <a:ln>
            <a:solidFill>
              <a:srgbClr val="F0C94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61A33"/>
                </a:solidFill>
              </a:rPr>
              <a:t>APPLICATION-DERIVED EVIDENCE</a:t>
            </a:r>
            <a:endParaRPr lang="en-US" sz="830" dirty="0"/>
          </a:p>
        </p:txBody>
      </p:sp>
      <p:sp>
        <p:nvSpPr>
          <p:cNvPr id="10" name="Text 6"/>
          <p:cNvSpPr/>
          <p:nvPr/>
        </p:nvSpPr>
        <p:spPr>
          <a:xfrm>
            <a:off x="713232" y="52395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F1FA"/>
                </a:solidFill>
              </a:rPr>
              <a:t>Prepared for KEDCO Executive Management · CTO · Senior Technical Leadership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13232" y="60990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E6B21A"/>
                </a:solidFill>
              </a:rPr>
              <a:t>YAJIB SMART SOLUTION UNIVERSAL LIMITED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EXECUTIVE PROPOSITION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ONE OPERATING PICTURE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fragmented technical activity to one governed operational platform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system connects frontline operations, technical departments, analytics, approvals, records and executive oversight in a single operating model.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7040880" y="1527048"/>
            <a:ext cx="466344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kedco_app_extract/KEDCO-Automation-LOCAL-STORAGE-COMPLETE/frontend/assets/kedco-landing-slide-07.png">    </p:cNvPr>
          <p:cNvPicPr>
            <a:picLocks noChangeAspect="1"/>
          </p:cNvPicPr>
          <p:nvPr/>
        </p:nvPicPr>
        <p:blipFill>
          <a:blip r:embed="rId1"/>
          <a:srcRect l="19546" r="19545" t="0" b="0"/>
          <a:stretch/>
        </p:blipFill>
        <p:spPr>
          <a:xfrm>
            <a:off x="7086600" y="1572768"/>
            <a:ext cx="4572000" cy="42245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6276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33"/>
                </a:solidFill>
              </a:rPr>
              <a:t>The management case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7512" y="2057400"/>
            <a:ext cx="589788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3243A"/>
                </a:solidFill>
              </a:rPr>
              <a:t>Capture operational data once and reuse it across dashboards, reports and technical workflows.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3243A"/>
                </a:solidFill>
              </a:rPr>
              <a:t>Coordinate switching, faults, outages, feeder performance and departmental actions with traceable records.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3243A"/>
                </a:solidFill>
              </a:rPr>
              <a:t>Give management a consistent view of system operations, asset activity, responsibilities and performance.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3243A"/>
                </a:solidFill>
              </a:rPr>
              <a:t>Retain records locally with historical snapshots, files, workflow evidence and audit events.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3243A"/>
                </a:solidFill>
              </a:rPr>
              <a:t>Scale across regions, stations, departments and future integrations without replacing the operating model.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" y="5486400"/>
            <a:ext cx="5925312" cy="53035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BFD8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56327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5DA8"/>
                </a:solidFill>
              </a:rPr>
              <a:t>Management message: this is not a single dashboard; it is an integrated technical operations platform.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VERIFIED IMPLEMENTATION FOOTPRINT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ACTUAL SYSTEM DATA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substantial working application already exists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Figures below are taken from the uploaded application archive and Local Cloud data—not projected adoption statistics.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21792" y="1572768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72768"/>
            <a:ext cx="54864" cy="1097280"/>
          </a:xfrm>
          <a:prstGeom prst="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691640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37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86384" y="2139696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HTML application pages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786384" y="235915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Operational + admin + utility pages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2907792" y="1572768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1572768"/>
            <a:ext cx="54864" cy="1097280"/>
          </a:xfrm>
          <a:prstGeom prst="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1691640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51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72384" y="2139696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active Local Cloud users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3072384" y="235915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Current archive user registry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193792" y="1572768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93792" y="1572768"/>
            <a:ext cx="54864" cy="1097280"/>
          </a:xfrm>
          <a:prstGeom prst="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1691640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55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58384" y="2139696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configured role codes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358384" y="235915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Executive, technical &amp; field roles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7479792" y="1572768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9792" y="1572768"/>
            <a:ext cx="54864" cy="10972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44384" y="1691640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226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644384" y="2139696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feeder identities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644384" y="235915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Across persisted live-operation data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9765792" y="1572768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65792" y="1572768"/>
            <a:ext cx="54864" cy="1097280"/>
          </a:xfrm>
          <a:prstGeom prst="rect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30384" y="1691640"/>
            <a:ext cx="152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60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930384" y="213969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stations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9930384" y="2359152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Persisted live-operation data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621792" y="2907792"/>
            <a:ext cx="109728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127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Persisted operational evidence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9536" y="36393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43A"/>
                </a:solidFill>
              </a:rPr>
              <a:t>Station live-operation records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62656" y="3666744"/>
            <a:ext cx="2331720" cy="128016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E6ED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62656" y="3666744"/>
            <a:ext cx="2295423" cy="128016"/>
          </a:xfrm>
          <a:prstGeom prst="round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67528" y="36210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61A33"/>
                </a:solidFill>
              </a:rPr>
              <a:t>88,599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59536" y="40690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43A"/>
                </a:solidFill>
              </a:rPr>
              <a:t>33 kV load-flow records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62656" y="4096512"/>
            <a:ext cx="2331720" cy="128016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E6ED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62656" y="4096512"/>
            <a:ext cx="1861925" cy="128016"/>
          </a:xfrm>
          <a:prstGeom prst="round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67528" y="40507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61A33"/>
                </a:solidFill>
              </a:rPr>
              <a:t>39,926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59536" y="44988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43A"/>
                </a:solidFill>
              </a:rPr>
              <a:t>11 kV load-flow records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962656" y="4526280"/>
            <a:ext cx="2331720" cy="128016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E6ED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62656" y="4526280"/>
            <a:ext cx="2265033" cy="128016"/>
          </a:xfrm>
          <a:prstGeom prst="round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67528" y="448056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61A33"/>
                </a:solidFill>
              </a:rPr>
              <a:t>48,570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59536" y="492861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43A"/>
                </a:solidFill>
              </a:rPr>
              <a:t>Historical data snapshots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62656" y="4956048"/>
            <a:ext cx="2331720" cy="128016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E6ED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62656" y="4956048"/>
            <a:ext cx="2100102" cy="128016"/>
          </a:xfrm>
          <a:prstGeom prst="round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67528" y="49103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61A33"/>
                </a:solidFill>
              </a:rPr>
              <a:t>1,351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80760" y="3246120"/>
            <a:ext cx="0" cy="201168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2512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Operational governance evidence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400800" y="3584448"/>
            <a:ext cx="15544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3584448"/>
            <a:ext cx="54864" cy="987552"/>
          </a:xfrm>
          <a:prstGeom prst="rect">
            <a:avLst/>
          </a:prstGeom>
          <a:solidFill>
            <a:srgbClr val="D84B4B"/>
          </a:solidFill>
          <a:ln w="12700">
            <a:solidFill>
              <a:srgbClr val="D84B4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65392" y="37033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259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6565392" y="41513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audit events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6565392" y="426110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Audit JSONL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8101584" y="3584448"/>
            <a:ext cx="15544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01584" y="3584448"/>
            <a:ext cx="54864" cy="987552"/>
          </a:xfrm>
          <a:prstGeom prst="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66176" y="37033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39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8266176" y="41513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daily-log events</a:t>
            </a:r>
            <a:endParaRPr lang="en-US" sz="920" dirty="0"/>
          </a:p>
        </p:txBody>
      </p:sp>
      <p:sp>
        <p:nvSpPr>
          <p:cNvPr id="60" name="Text 58"/>
          <p:cNvSpPr/>
          <p:nvPr/>
        </p:nvSpPr>
        <p:spPr>
          <a:xfrm>
            <a:off x="8266176" y="426110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Persisted event register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9802368" y="3584448"/>
            <a:ext cx="15544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802368" y="3584448"/>
            <a:ext cx="54864" cy="987552"/>
          </a:xfrm>
          <a:prstGeom prst="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966960" y="37033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17</a:t>
            </a:r>
            <a:endParaRPr lang="en-US" sz="2400" dirty="0"/>
          </a:p>
        </p:txBody>
      </p:sp>
      <p:sp>
        <p:nvSpPr>
          <p:cNvPr id="64" name="Text 62"/>
          <p:cNvSpPr/>
          <p:nvPr/>
        </p:nvSpPr>
        <p:spPr>
          <a:xfrm>
            <a:off x="9966960" y="41513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file assets</a:t>
            </a:r>
            <a:endParaRPr lang="en-US" sz="920" dirty="0"/>
          </a:p>
        </p:txBody>
      </p:sp>
      <p:sp>
        <p:nvSpPr>
          <p:cNvPr id="65" name="Text 63"/>
          <p:cNvSpPr/>
          <p:nvPr/>
        </p:nvSpPr>
        <p:spPr>
          <a:xfrm>
            <a:off x="9966960" y="426110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Registered evidence files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6400800" y="4846320"/>
            <a:ext cx="4892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1758E"/>
                </a:solidFill>
              </a:rPr>
              <a:t>Load-flow archive shown here covers eight persisted September 2026 dates in this uploaded package; it is evidence of capability, not a claim of full-period completeness.</a:t>
            </a:r>
            <a:endParaRPr lang="en-US" sz="920" dirty="0"/>
          </a:p>
        </p:txBody>
      </p:sp>
      <p:sp>
        <p:nvSpPr>
          <p:cNvPr id="67" name="Text 65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KEDCO Technical Automation application archive reviewed 26 Sep 2026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OPERATIONAL CHALLENGE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PROCESS RISKS ADDRESSED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platform is designed around the problems that slow technical operations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These are operating risks the application explicitly addresses through its workflows and control logic—not unsupported claims about current KEDCO performance.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0" y="1490472"/>
            <a:ext cx="51206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kedco_app_extract/KEDCO-Automation-LOCAL-STORAGE-COMPLETE/frontend/assets/kedco-landing-slide-02.png">    </p:cNvPr>
          <p:cNvPicPr>
            <a:picLocks noChangeAspect="1"/>
          </p:cNvPicPr>
          <p:nvPr/>
        </p:nvPicPr>
        <p:blipFill>
          <a:blip r:embed="rId1"/>
          <a:srcRect l="18733" r="18733" t="0" b="0"/>
          <a:stretch/>
        </p:blipFill>
        <p:spPr>
          <a:xfrm>
            <a:off x="6629400" y="1536192"/>
            <a:ext cx="502920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1627632"/>
            <a:ext cx="438912" cy="438912"/>
          </a:xfrm>
          <a:prstGeom prst="ellipse">
            <a:avLst/>
          </a:prstGeom>
          <a:solidFill>
            <a:srgbClr val="D84B4B"/>
          </a:solidFill>
          <a:ln w="12700">
            <a:solidFill>
              <a:srgbClr val="D84B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" y="17373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234440" y="16184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61A33"/>
                </a:solidFill>
              </a:rPr>
              <a:t>Fragmented records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2971800" y="1618488"/>
            <a:ext cx="32918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3243A"/>
                </a:solidFill>
              </a:rPr>
              <a:t>Hourly readings, outage events, approvals and reports can become separated across people and files.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658368" y="2459736"/>
            <a:ext cx="438912" cy="438912"/>
          </a:xfrm>
          <a:prstGeom prst="ellipse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256946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34440" y="24505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61A33"/>
                </a:solidFill>
              </a:rPr>
              <a:t>Slow operational handoffs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2971800" y="2450592"/>
            <a:ext cx="32918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3243A"/>
                </a:solidFill>
              </a:rPr>
              <a:t>Fault, switching and maintenance information needs structured routing between responsible authorities.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658368" y="3291840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" y="34015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234440" y="32826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61A33"/>
                </a:solidFill>
              </a:rPr>
              <a:t>Manual reconciliation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2971800" y="3282696"/>
            <a:ext cx="32918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3243A"/>
                </a:solidFill>
              </a:rPr>
              <a:t>33 kV, 11 kV, TMO, energy, forecast and reporting data require repeat handling when sources are disconnected.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658368" y="4123944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4088" y="42336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23444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61A33"/>
                </a:solidFill>
              </a:rPr>
              <a:t>Limited traceability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297180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3243A"/>
                </a:solidFill>
              </a:rPr>
              <a:t>Without a central record, management has less visibility into who submitted, approved, received, closed or restored an action.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658368" y="4956048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4088" y="506577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234440" y="49469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61A33"/>
                </a:solidFill>
              </a:rPr>
              <a:t>Data continuity risk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2971800" y="4946904"/>
            <a:ext cx="32918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3243A"/>
                </a:solidFill>
              </a:rPr>
              <a:t>Operational history and evidence need durable local storage, backup, snapshots and retrieval paths.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PLATFORM ARCHITECTURE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LOCAL-FIRST · MODULAR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connected operating stack—from field action to executive intelligence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frontend retains a compatibility layer while Local Cloud routes authentication, tables, files, synchronization and historical records to the local Express/JSON backend.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664208"/>
            <a:ext cx="1965960" cy="3493008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64208"/>
            <a:ext cx="1965960" cy="109728"/>
          </a:xfrm>
          <a:prstGeom prst="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20240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Operational users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1655064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Dispatch &amp; operators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RE / TE &amp; regions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PC&amp;M · O&amp;M · P&amp;I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HSE · Stores · Contractors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2670048" y="2971800"/>
            <a:ext cx="411480" cy="548640"/>
          </a:xfrm>
          <a:prstGeom prst="chevron">
            <a:avLst/>
          </a:prstGeom>
          <a:solidFill>
            <a:srgbClr val="C8D8E9"/>
          </a:solidFill>
          <a:ln w="12700">
            <a:solidFill>
              <a:srgbClr val="C8D8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664208"/>
            <a:ext cx="1965960" cy="3493008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664208"/>
            <a:ext cx="1965960" cy="1097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9504" y="1920240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Application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07792" y="2514600"/>
            <a:ext cx="1655064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37 HTML pages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Role-aware dashboards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Digital eForms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Network maps &amp; analytics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4754880" y="2971800"/>
            <a:ext cx="411480" cy="548640"/>
          </a:xfrm>
          <a:prstGeom prst="chevron">
            <a:avLst/>
          </a:prstGeom>
          <a:solidFill>
            <a:srgbClr val="C8D8E9"/>
          </a:solidFill>
          <a:ln w="12700">
            <a:solidFill>
              <a:srgbClr val="C8D8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28032" y="1664208"/>
            <a:ext cx="1965960" cy="3493008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28032" y="1664208"/>
            <a:ext cx="1965960" cy="109728"/>
          </a:xfrm>
          <a:prstGeom prst="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1920240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Automation services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92624" y="2514600"/>
            <a:ext cx="1655064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Routing &amp; approvals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Load-flow synchronization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Analyzer &amp; TMO logic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Reporting / export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839712" y="2971800"/>
            <a:ext cx="411480" cy="548640"/>
          </a:xfrm>
          <a:prstGeom prst="chevron">
            <a:avLst/>
          </a:prstGeom>
          <a:solidFill>
            <a:srgbClr val="C8D8E9"/>
          </a:solidFill>
          <a:ln w="12700">
            <a:solidFill>
              <a:srgbClr val="C8D8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12864" y="1664208"/>
            <a:ext cx="1965960" cy="3493008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12864" y="1664208"/>
            <a:ext cx="1965960" cy="109728"/>
          </a:xfrm>
          <a:prstGeom prst="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9168" y="1920240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Local Cloud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77456" y="2514600"/>
            <a:ext cx="1655064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Express backend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JSON tables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Files &amp; evidence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Snapshots / backups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8924544" y="2971800"/>
            <a:ext cx="411480" cy="548640"/>
          </a:xfrm>
          <a:prstGeom prst="chevron">
            <a:avLst/>
          </a:prstGeom>
          <a:solidFill>
            <a:srgbClr val="C8D8E9"/>
          </a:solidFill>
          <a:ln w="12700">
            <a:solidFill>
              <a:srgbClr val="C8D8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97696" y="1664208"/>
            <a:ext cx="2542032" cy="3493008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97696" y="1664208"/>
            <a:ext cx="2542032" cy="109728"/>
          </a:xfrm>
          <a:prstGeom prst="rect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192024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Management layer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62288" y="2514600"/>
            <a:ext cx="223113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Executive dashboards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Performance intelligence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Audit &amp; accountability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Historical retrieval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58368" y="5413248"/>
            <a:ext cx="10881360" cy="566928"/>
          </a:xfrm>
          <a:prstGeom prst="roundRect">
            <a:avLst/>
          </a:prstGeom>
          <a:solidFill>
            <a:srgbClr val="EDF5FC"/>
          </a:solidFill>
          <a:ln w="12700">
            <a:solidFill>
              <a:srgbClr val="C8DD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5596128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5DA8"/>
                </a:solidFill>
              </a:rPr>
              <a:t>Design principle: preserve operational continuity locally while keeping the frontend interface compatible with future storage/integration choices.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LOCAL_CLOUD_GUIDE.md, backend/frontend code and application archive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ENTERPRISE MODULE LANDSCAPE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CROSS-DIRECTORATE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platform spanning core technical operations and supporting functions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archive contains dedicated interfaces for central control, technical departments, regional teams, data functions and executive management.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round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8366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80160" y="177393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System Operations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80160" y="21214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Dispatch · Operator · Head SO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474720" y="162763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02736" y="1792224"/>
            <a:ext cx="384048" cy="384048"/>
          </a:xfrm>
          <a:prstGeom prst="round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188366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96512" y="177393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TMO &amp; Analyzer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096512" y="21214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Energy · Forecast · Feeder KPI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291072" y="162763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1792224"/>
            <a:ext cx="384048" cy="384048"/>
          </a:xfrm>
          <a:prstGeom prst="round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188366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12864" y="177393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O&amp;M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12864" y="21214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RE/TE · Fitters · Jointers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107424" y="162763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1792224"/>
            <a:ext cx="384048" cy="384048"/>
          </a:xfrm>
          <a:prstGeom prst="round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53728" y="188366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729216" y="177393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PC&amp;M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729216" y="21214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Protection · Control · Metering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58368" y="295351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" y="3118104"/>
            <a:ext cx="384048" cy="384048"/>
          </a:xfrm>
          <a:prstGeom prst="roundRect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320954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280160" y="30998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Planning &amp; Investment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280160" y="344728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Projects · Network planning · QA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474720" y="295351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02736" y="3118104"/>
            <a:ext cx="384048" cy="384048"/>
          </a:xfrm>
          <a:prstGeom prst="roundRect">
            <a:avLst/>
          </a:prstGeom>
          <a:solidFill>
            <a:srgbClr val="D84B4B"/>
          </a:solidFill>
          <a:ln w="12700">
            <a:solidFill>
              <a:srgbClr val="D84B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21024" y="320954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96512" y="30998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HSE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096512" y="344728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Incidents · actions · assurance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291072" y="295351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3118104"/>
            <a:ext cx="384048" cy="384048"/>
          </a:xfrm>
          <a:prstGeom prst="round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320954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07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12864" y="30998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MIS &amp; Data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912864" y="344728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Daily automation · cleaning · quality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9107424" y="295351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35440" y="3118104"/>
            <a:ext cx="384048" cy="384048"/>
          </a:xfrm>
          <a:prstGeom prst="round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53728" y="320954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729216" y="30998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Stores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729216" y="344728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Inventory · requests · audit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658368" y="427939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6384" y="4443984"/>
            <a:ext cx="384048" cy="384048"/>
          </a:xfrm>
          <a:prstGeom prst="round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" y="453542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09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280160" y="44256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Contractors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280160" y="477316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Delivery · safety · QA/QC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3474720" y="427939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02736" y="4443984"/>
            <a:ext cx="384048" cy="384048"/>
          </a:xfrm>
          <a:prstGeom prst="roundRect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21024" y="453542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096512" y="44256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Executive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096512" y="477316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CTO · Technical Administration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6291072" y="427939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19088" y="4443984"/>
            <a:ext cx="384048" cy="384048"/>
          </a:xfrm>
          <a:prstGeom prst="round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37376" y="453542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912864" y="44256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Transmission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912864" y="477316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132/33 kV operations &amp; guarantees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9107424" y="427939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35440" y="4443984"/>
            <a:ext cx="384048" cy="384048"/>
          </a:xfrm>
          <a:prstGeom prst="roundRect">
            <a:avLst/>
          </a:prstGeom>
          <a:solidFill>
            <a:srgbClr val="0B2D57"/>
          </a:solidFill>
          <a:ln w="12700">
            <a:solidFill>
              <a:srgbClr val="0B2D5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53728" y="453542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729216" y="44256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Developer/Admin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9729216" y="477316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Users · roles · responsibility master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frontend/pages module inventory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SYSTEM OPERATIONS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CENTRAL DISPATCH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Central Dispatch becomes a live operational control surface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Dispatch page combines 33/11 kV operating context, network master data, feeder control, outage actions, network mapping and role-aware workflows.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12648" y="1508760"/>
            <a:ext cx="7022592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kedco_ui/dispatch.png">    </p:cNvPr>
          <p:cNvPicPr>
            <a:picLocks noChangeAspect="1"/>
          </p:cNvPicPr>
          <p:nvPr/>
        </p:nvPicPr>
        <p:blipFill>
          <a:blip r:embed="rId1"/>
          <a:srcRect l="1160" r="1160" t="0" b="0"/>
          <a:stretch/>
        </p:blipFill>
        <p:spPr>
          <a:xfrm>
            <a:off x="658368" y="1554480"/>
            <a:ext cx="6931152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82128" y="1572768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56448" y="184708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33"/>
                </a:solidFill>
              </a:rPr>
              <a:t>Operational capabilities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56448" y="2331720"/>
            <a:ext cx="2971800" cy="3063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Central dispatch dashboard with operating status and control-room context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33 kV / 11 kV load-flow entry, live/history behavior and feeder-state tracking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Network master register and selected electrical path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Outage, fault, breaker, switching and restoration operations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Interactive network map, route editor and Google Maps configuration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Shared Local Cloud Daily Log with operator pages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dispatch.html + Local Cloud verification report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33 KV &amp; 11 KV LOAD-FLOW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ACTUAL ARCHIVE EVIDENCE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Persisted load-flow intelligence at feeder level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uploaded Local Cloud archive contains both voltage levels with station, region, feeder, date, hour, shift, status, summary and payload fields.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33"/>
                </a:solidFill>
              </a:rPr>
              <a:t>Persisted record volume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43A"/>
                </a:solidFill>
              </a:rPr>
              <a:t>33 kV records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4297680" cy="347472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651760"/>
            <a:ext cx="3431783" cy="347472"/>
          </a:xfrm>
          <a:prstGeom prst="round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58775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39,926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43A"/>
                </a:solidFill>
              </a:rPr>
              <a:t>11 kV records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3886200"/>
            <a:ext cx="4297680" cy="347472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886200"/>
            <a:ext cx="4174766" cy="347472"/>
          </a:xfrm>
          <a:prstGeom prst="round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382219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48,570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983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A33"/>
                </a:solidFill>
              </a:rPr>
              <a:t>Coverage inside this archive sample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3309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1758E"/>
                </a:solidFill>
              </a:rPr>
              <a:t>8 persisted dates · 81 unique 33 kV feeder names · 145 unique 11 kV feeder names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55664" y="1572768"/>
            <a:ext cx="5084064" cy="4434840"/>
          </a:xfrm>
          <a:prstGeom prst="roundRect">
            <a:avLst>
              <a:gd name="adj" fmla="val 1649"/>
            </a:avLst>
          </a:prstGeom>
          <a:solidFill>
            <a:srgbClr val="F8FBFE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1828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33"/>
                </a:solidFill>
              </a:rPr>
              <a:t>Why it matters operationally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2331720"/>
            <a:ext cx="4251960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3243A"/>
                </a:solidFill>
              </a:rPr>
              <a:t>Hourly data can be viewed as both live and historical operational evidence.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3243A"/>
                </a:solidFill>
              </a:rPr>
              <a:t>Dispatch Overview logic treats current-hour 33 kV as the authoritative system-load layer.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3243A"/>
                </a:solidFill>
              </a:rPr>
              <a:t>11 kV remains downstream feeder status and is not added to 33 kV, preventing double counting.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3243A"/>
                </a:solidFill>
              </a:rPr>
              <a:t>Records can feed performance analysis, management trends, fault/outage context and reporting.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5074920"/>
            <a:ext cx="4224528" cy="566928"/>
          </a:xfrm>
          <a:prstGeom prst="roundRect">
            <a:avLst/>
          </a:prstGeom>
          <a:solidFill>
            <a:srgbClr val="E5F8F4"/>
          </a:solidFill>
          <a:ln w="12700">
            <a:solidFill>
              <a:srgbClr val="B8E4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4304" y="5257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87864"/>
                </a:solidFill>
              </a:rPr>
              <a:t>Built for operational continuity: batch save/read verified for both voltage levels.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Local Cloud load-flow JSON + LOCAL_CLOUD_TEST_REPORT.md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FEEDER PERFORMANCE ANALYZER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RAW DATA → DEFENSIBLE INSIGHT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analyzer converts raw feeder workbooks into structured monthly intelligence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It brings 33 kV, 11 kV and forecast inputs into one reporting period and supports cleaning, classification, KPI analysis, archive persistence and export.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12648" y="1508760"/>
            <a:ext cx="6903720" cy="457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kedco_ui/analyzer.png">    </p:cNvPr>
          <p:cNvPicPr>
            <a:picLocks noChangeAspect="1"/>
          </p:cNvPicPr>
          <p:nvPr/>
        </p:nvPicPr>
        <p:blipFill>
          <a:blip r:embed="rId1"/>
          <a:srcRect l="2487" r="2487" t="0" b="0"/>
          <a:stretch/>
        </p:blipFill>
        <p:spPr>
          <a:xfrm>
            <a:off x="658368" y="1554480"/>
            <a:ext cx="681228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54112" y="1572768"/>
            <a:ext cx="3794760" cy="443484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28432" y="18562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33"/>
                </a:solidFill>
              </a:rPr>
              <a:t>Analyzer capabilities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28432" y="2331720"/>
            <a:ext cx="306324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13243A"/>
                </a:solidFill>
              </a:rPr>
              <a:t>33 kV + 11 kV + forecast in the same reporting period</a:t>
            </a:r>
            <a:endParaRPr lang="en-US" sz="1020" dirty="0"/>
          </a:p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13243A"/>
                </a:solidFill>
              </a:rPr>
              <a:t>Feeder KPI performance and hour classification</a:t>
            </a:r>
            <a:endParaRPr lang="en-US" sz="1020" dirty="0"/>
          </a:p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13243A"/>
                </a:solidFill>
              </a:rPr>
              <a:t>Local Cloud sync, file upload and analyzed-month archive</a:t>
            </a:r>
            <a:endParaRPr lang="en-US" sz="1020" dirty="0"/>
          </a:p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13243A"/>
                </a:solidFill>
              </a:rPr>
              <a:t>Monthly feeder performance and daily energy views</a:t>
            </a:r>
            <a:endParaRPr lang="en-US" sz="1020" dirty="0"/>
          </a:p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13243A"/>
                </a:solidFill>
              </a:rPr>
              <a:t>33 kV analyzed export includes transformer rating and transformer peak load where source data exists</a:t>
            </a:r>
            <a:endParaRPr lang="en-US" sz="1020" dirty="0"/>
          </a:p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13243A"/>
                </a:solidFill>
              </a:rPr>
              <a:t>11 kV analysis schema retained without fabricating missing asset metadata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analyzer.html + LOCAL_CLOUD_TEST_REPORT.md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DAILY FEEDER OPERATION &amp; OUTAGE MANAGEMENT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CONTROLLED LIFECYCLE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 are managed as a lifecycle—not isolated entries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Daily Log enforces operational categories, planned duration where required, duplicate-open protection and exact feeder restoration.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1664208" cy="324612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75688"/>
            <a:ext cx="438912" cy="438912"/>
          </a:xfrm>
          <a:prstGeom prst="ellipse">
            <a:avLst/>
          </a:prstGeom>
          <a:solidFill>
            <a:srgbClr val="D84B4B"/>
          </a:solidFill>
          <a:ln w="12700">
            <a:solidFill>
              <a:srgbClr val="D84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854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1A33"/>
                </a:solidFill>
              </a:rPr>
              <a:t>Detect / instruct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1325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Fault, load shedding, breaker, emergency or planned outage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286000" y="2926080"/>
            <a:ext cx="301752" cy="502920"/>
          </a:xfrm>
          <a:prstGeom prst="chevron">
            <a:avLst/>
          </a:prstGeom>
          <a:solidFill>
            <a:srgbClr val="BDD1E4"/>
          </a:solidFill>
          <a:ln w="12700">
            <a:solidFill>
              <a:srgbClr val="BDD1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32888" y="1874520"/>
            <a:ext cx="1664208" cy="3246120"/>
          </a:xfrm>
          <a:prstGeom prst="roundRect">
            <a:avLst>
              <a:gd name="adj" fmla="val 4396"/>
            </a:avLst>
          </a:prstGeom>
          <a:solidFill>
            <a:srgbClr val="F8FBFE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2075688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1854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1A33"/>
                </a:solidFill>
              </a:rPr>
              <a:t>Open event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3310128"/>
            <a:ext cx="1325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Record feeder, source, reason, time, load lost and planned duration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160520" y="2926080"/>
            <a:ext cx="301752" cy="502920"/>
          </a:xfrm>
          <a:prstGeom prst="chevron">
            <a:avLst/>
          </a:prstGeom>
          <a:solidFill>
            <a:srgbClr val="BDD1E4"/>
          </a:solidFill>
          <a:ln w="12700">
            <a:solidFill>
              <a:srgbClr val="BDD1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07408" y="1874520"/>
            <a:ext cx="1664208" cy="324612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075688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1854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1A33"/>
                </a:solidFill>
              </a:rPr>
              <a:t>Route / coordinate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3310128"/>
            <a:ext cx="1325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Share operational record with responsible control or technical authority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035040" y="2926080"/>
            <a:ext cx="301752" cy="502920"/>
          </a:xfrm>
          <a:prstGeom prst="chevron">
            <a:avLst/>
          </a:prstGeom>
          <a:solidFill>
            <a:srgbClr val="BDD1E4"/>
          </a:solidFill>
          <a:ln w="12700">
            <a:solidFill>
              <a:srgbClr val="BDD1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1874520"/>
            <a:ext cx="1664208" cy="3246120"/>
          </a:xfrm>
          <a:prstGeom prst="roundRect">
            <a:avLst>
              <a:gd name="adj" fmla="val 4396"/>
            </a:avLst>
          </a:prstGeom>
          <a:solidFill>
            <a:srgbClr val="F8FBFE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2075688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1854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1A33"/>
                </a:solidFill>
              </a:rPr>
              <a:t>Monitor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3310128"/>
            <a:ext cx="1325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Maintain live state and operational history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909560" y="2926080"/>
            <a:ext cx="301752" cy="502920"/>
          </a:xfrm>
          <a:prstGeom prst="chevron">
            <a:avLst/>
          </a:prstGeom>
          <a:solidFill>
            <a:srgbClr val="BDD1E4"/>
          </a:solidFill>
          <a:ln w="12700">
            <a:solidFill>
              <a:srgbClr val="BDD1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56448" y="1874520"/>
            <a:ext cx="1664208" cy="324612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2075688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21854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1A33"/>
                </a:solidFill>
              </a:rPr>
              <a:t>Restore / close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3310128"/>
            <a:ext cx="1325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Close the exact matching record and return to live operating time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9784080" y="2926080"/>
            <a:ext cx="301752" cy="502920"/>
          </a:xfrm>
          <a:prstGeom prst="chevron">
            <a:avLst/>
          </a:prstGeom>
          <a:solidFill>
            <a:srgbClr val="BDD1E4"/>
          </a:solidFill>
          <a:ln w="12700">
            <a:solidFill>
              <a:srgbClr val="BDD1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30968" y="1874520"/>
            <a:ext cx="1664208" cy="3246120"/>
          </a:xfrm>
          <a:prstGeom prst="roundRect">
            <a:avLst>
              <a:gd name="adj" fmla="val 4396"/>
            </a:avLst>
          </a:prstGeom>
          <a:solidFill>
            <a:srgbClr val="F8FBFE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95560" y="2075688"/>
            <a:ext cx="438912" cy="438912"/>
          </a:xfrm>
          <a:prstGeom prst="ellipse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0" y="21854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19556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1A33"/>
                </a:solidFill>
              </a:rPr>
              <a:t>Audit / report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195560" y="3310128"/>
            <a:ext cx="1325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Retain event history for management and future analysis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685800" y="5440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A33"/>
                </a:solidFill>
              </a:rPr>
              <a:t>Current archive: 39 persisted Daily Log events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0" y="5422392"/>
            <a:ext cx="1737360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Load shedding · 20</a:t>
            </a:r>
            <a:endParaRPr lang="en-US" sz="830" dirty="0"/>
          </a:p>
        </p:txBody>
      </p:sp>
      <p:sp>
        <p:nvSpPr>
          <p:cNvPr id="43" name="Text 41"/>
          <p:cNvSpPr/>
          <p:nvPr/>
        </p:nvSpPr>
        <p:spPr>
          <a:xfrm>
            <a:off x="5532120" y="5422392"/>
            <a:ext cx="1737360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6B21A"/>
                </a:solidFill>
              </a:rPr>
              <a:t>Planned outage · 9</a:t>
            </a:r>
            <a:endParaRPr lang="en-US" sz="830" dirty="0"/>
          </a:p>
        </p:txBody>
      </p:sp>
      <p:sp>
        <p:nvSpPr>
          <p:cNvPr id="44" name="Text 42"/>
          <p:cNvSpPr/>
          <p:nvPr/>
        </p:nvSpPr>
        <p:spPr>
          <a:xfrm>
            <a:off x="7406640" y="5422392"/>
            <a:ext cx="1737360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84B4B"/>
                </a:solidFill>
              </a:rPr>
              <a:t>Fault · 9</a:t>
            </a:r>
            <a:endParaRPr lang="en-US" sz="830" dirty="0"/>
          </a:p>
        </p:txBody>
      </p:sp>
      <p:sp>
        <p:nvSpPr>
          <p:cNvPr id="45" name="Text 43"/>
          <p:cNvSpPr/>
          <p:nvPr/>
        </p:nvSpPr>
        <p:spPr>
          <a:xfrm>
            <a:off x="9281160" y="5422392"/>
            <a:ext cx="1737360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Breaker fault · 1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daily_log_events.json + LOCAL_CLOUD_TEST_REPORT.md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TMO INTELLIGENCE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ENERGY · MARKET · PERFORMANCE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TMO turns technical and commercial inputs into management intelligence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TMO Intelligence Centre includes load, frequency, energy allocation, forecast, feeder availability, compliance, billing exposure and monthly/yearly views.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12648" y="1527048"/>
            <a:ext cx="6748272" cy="44622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kedco_ui/tmo.png">    </p:cNvPr>
          <p:cNvPicPr>
            <a:picLocks noChangeAspect="1"/>
          </p:cNvPicPr>
          <p:nvPr/>
        </p:nvPicPr>
        <p:blipFill>
          <a:blip r:embed="rId1"/>
          <a:srcRect l="2406" r="2406" t="0" b="0"/>
          <a:stretch/>
        </p:blipFill>
        <p:spPr>
          <a:xfrm>
            <a:off x="658368" y="1572768"/>
            <a:ext cx="6656832" cy="43708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618488"/>
            <a:ext cx="3840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36408" y="17282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61A33"/>
                </a:solidFill>
              </a:rPr>
              <a:t>System load &amp; frequency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9144000" y="17099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1758E"/>
                </a:solidFill>
              </a:rPr>
              <a:t>Real-time frequency · hourly KEDCO system load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7635240" y="2331720"/>
            <a:ext cx="3840480" cy="566928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36408" y="24414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61A33"/>
                </a:solidFill>
              </a:rPr>
              <a:t>Energy allocation</a:t>
            </a:r>
            <a:endParaRPr lang="en-US" sz="940" dirty="0"/>
          </a:p>
        </p:txBody>
      </p:sp>
      <p:sp>
        <p:nvSpPr>
          <p:cNvPr id="13" name="Text 10"/>
          <p:cNvSpPr/>
          <p:nvPr/>
        </p:nvSpPr>
        <p:spPr>
          <a:xfrm>
            <a:off x="9144000" y="2423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1758E"/>
                </a:solidFill>
              </a:rPr>
              <a:t>Daily energy vs allocation · premium allocation ratio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7635240" y="3044952"/>
            <a:ext cx="3840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31546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61A33"/>
                </a:solidFill>
              </a:rPr>
              <a:t>Forecast performance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9144000" y="31363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1758E"/>
                </a:solidFill>
              </a:rPr>
              <a:t>Monthly forecast vs actual · available generation allocation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7635240" y="3758184"/>
            <a:ext cx="3840480" cy="566928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36408" y="38679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61A33"/>
                </a:solidFill>
              </a:rPr>
              <a:t>Commercial intelligence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9144000" y="384962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1758E"/>
                </a:solidFill>
              </a:rPr>
              <a:t>Revenue / billing / tariff inputs · collection and P&amp;L exposure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7635240" y="4471416"/>
            <a:ext cx="3840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36408" y="45811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61A33"/>
                </a:solidFill>
              </a:rPr>
              <a:t>Compliance &amp; risk</a:t>
            </a:r>
            <a:endParaRPr lang="en-US" sz="940" dirty="0"/>
          </a:p>
        </p:txBody>
      </p:sp>
      <p:sp>
        <p:nvSpPr>
          <p:cNvPr id="22" name="Text 19"/>
          <p:cNvSpPr/>
          <p:nvPr/>
        </p:nvSpPr>
        <p:spPr>
          <a:xfrm>
            <a:off x="9144000" y="45628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1758E"/>
                </a:solidFill>
              </a:rPr>
              <a:t>Business-segment compliance · risk distribution · feeder criticality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7635240" y="5184648"/>
            <a:ext cx="3840480" cy="566928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36408" y="52943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61A33"/>
                </a:solidFill>
              </a:rPr>
              <a:t>Monthly / yearly view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9144000" y="52760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1758E"/>
                </a:solidFill>
              </a:rPr>
              <a:t>12-month trend · YTD scorecard · service compliance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tmo.html headings and data-hub configuration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DIGITAL EFORMS &amp; WORKFLOW ROUTING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6 / 6 END-TO-END PASS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forms become governed digital workflows with evidence and routing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Six System Operations workflows were verified end to end, including required documents and generated route tasks.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66420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19656"/>
            <a:ext cx="658368" cy="256032"/>
          </a:xfrm>
          <a:prstGeom prst="rect">
            <a:avLst/>
          </a:prstGeom>
          <a:solidFill>
            <a:srgbClr val="0F5DA8"/>
          </a:solidFill>
          <a:ln>
            <a:solidFill>
              <a:srgbClr val="0F5D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O.F.1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618488" y="18196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61A33"/>
                </a:solidFill>
              </a:rPr>
              <a:t>Protection Guarantee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1618488" y="223113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1758E"/>
                </a:solidFill>
              </a:rPr>
              <a:t>2 docs  •  5 tasks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3355848" y="250545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AD66"/>
                </a:solidFill>
              </a:rPr>
              <a:t>PASS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34256" y="166420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19656"/>
            <a:ext cx="658368" cy="256032"/>
          </a:xfrm>
          <a:prstGeom prst="rect">
            <a:avLst/>
          </a:prstGeom>
          <a:solidFill>
            <a:srgbClr val="0F5DA8"/>
          </a:solidFill>
          <a:ln>
            <a:solidFill>
              <a:srgbClr val="0F5D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O.F.2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5294376" y="18196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61A33"/>
                </a:solidFill>
              </a:rPr>
              <a:t>Work Permit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5294376" y="223113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1758E"/>
                </a:solidFill>
              </a:rPr>
              <a:t>2 docs  •  5 tasks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7031736" y="250545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AD66"/>
                </a:solidFill>
              </a:rPr>
              <a:t>PASS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10144" y="166420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4736" y="1819656"/>
            <a:ext cx="658368" cy="256032"/>
          </a:xfrm>
          <a:prstGeom prst="rect">
            <a:avLst/>
          </a:prstGeom>
          <a:solidFill>
            <a:srgbClr val="0F5DA8"/>
          </a:solidFill>
          <a:ln>
            <a:solidFill>
              <a:srgbClr val="0F5D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O.F.3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8970264" y="18196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61A33"/>
                </a:solidFill>
              </a:rPr>
              <a:t>Work &amp; Test Permit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8970264" y="223113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1758E"/>
                </a:solidFill>
              </a:rPr>
              <a:t>2 docs  •  5 tasks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0707624" y="250545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AD66"/>
                </a:solidFill>
              </a:rPr>
              <a:t>PASS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" y="310896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264408"/>
            <a:ext cx="658368" cy="256032"/>
          </a:xfrm>
          <a:prstGeom prst="rect">
            <a:avLst/>
          </a:prstGeom>
          <a:solidFill>
            <a:srgbClr val="0F5DA8"/>
          </a:solidFill>
          <a:ln>
            <a:solidFill>
              <a:srgbClr val="0F5D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O.F.4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1618488" y="32644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61A33"/>
                </a:solidFill>
              </a:rPr>
              <a:t>Station Guarantee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1618488" y="367588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1758E"/>
                </a:solidFill>
              </a:rPr>
              <a:t>1 doc  •  6 tasks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3355848" y="395020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AD66"/>
                </a:solidFill>
              </a:rPr>
              <a:t>PASS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34256" y="310896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8848" y="3264408"/>
            <a:ext cx="658368" cy="256032"/>
          </a:xfrm>
          <a:prstGeom prst="rect">
            <a:avLst/>
          </a:prstGeom>
          <a:solidFill>
            <a:srgbClr val="0F5DA8"/>
          </a:solidFill>
          <a:ln>
            <a:solidFill>
              <a:srgbClr val="0F5D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O.F.17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294376" y="32644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61A33"/>
                </a:solidFill>
              </a:rPr>
              <a:t>Order to Operate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5294376" y="367588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1758E"/>
                </a:solidFill>
              </a:rPr>
              <a:t>1 doc  •  4 tasks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7031736" y="395020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AD66"/>
                </a:solidFill>
              </a:rPr>
              <a:t>PASS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10144" y="310896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74736" y="3264408"/>
            <a:ext cx="658368" cy="256032"/>
          </a:xfrm>
          <a:prstGeom prst="rect">
            <a:avLst/>
          </a:prstGeom>
          <a:solidFill>
            <a:srgbClr val="0F5DA8"/>
          </a:solidFill>
          <a:ln>
            <a:solidFill>
              <a:srgbClr val="0F5D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O.F.19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8970264" y="32644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61A33"/>
                </a:solidFill>
              </a:rPr>
              <a:t>Trouble &amp; Repair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8970264" y="367588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1758E"/>
                </a:solidFill>
              </a:rPr>
              <a:t>No mandatory  •  4 tasks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10707624" y="395020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AD66"/>
                </a:solidFill>
              </a:rPr>
              <a:t>PASS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58368" y="4754880"/>
            <a:ext cx="10927080" cy="1005840"/>
          </a:xfrm>
          <a:prstGeom prst="roundRect">
            <a:avLst/>
          </a:prstGeom>
          <a:solidFill>
            <a:srgbClr val="EAF5FC"/>
          </a:solidFill>
          <a:ln w="12700">
            <a:solidFill>
              <a:srgbClr val="C6DF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" y="50017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F5DA8"/>
                </a:solidFill>
              </a:rPr>
              <a:t>Workflow pattern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2011680" y="495604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Fill eForm  →  attach required evidence  →  send to defined authority  →  receive / review  →  feedback / approval  →  retained record &amp; audit trail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LOCAL_CLOUD_TEST_REPORT.md + approved eForm templates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O&amp;M + PC&amp;M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FIELD → TECHNICAL ASSURANCE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departments operate from dedicated dashboards and structured workspaces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platform separates responsibilities while preserving a common workflow, accountability and management model.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035040" y="1490472"/>
            <a:ext cx="5532120" cy="2212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kedco_ui/headpcm.png">    </p:cNvPr>
          <p:cNvPicPr>
            <a:picLocks noChangeAspect="1"/>
          </p:cNvPicPr>
          <p:nvPr/>
        </p:nvPicPr>
        <p:blipFill>
          <a:blip r:embed="rId1"/>
          <a:srcRect l="0" r="0" t="18807" b="18807"/>
          <a:stretch/>
        </p:blipFill>
        <p:spPr>
          <a:xfrm>
            <a:off x="6080760" y="1536192"/>
            <a:ext cx="5440680" cy="21214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1572768"/>
            <a:ext cx="5074920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33"/>
                </a:solidFill>
              </a:rPr>
              <a:t>Operations &amp; Maintenance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331720"/>
            <a:ext cx="4315968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3243A"/>
                </a:solidFill>
              </a:rPr>
              <a:t>Head O&amp;M executive dashboard for RE/TE performance, faults, restoration and maintenance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3243A"/>
                </a:solidFill>
              </a:rPr>
              <a:t>RE/TE responsibility register with state → region → office → voltage → feeder context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3243A"/>
                </a:solidFill>
              </a:rPr>
              <a:t>Regional electrical fitter and cable jointer digital field workspaces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3243A"/>
                </a:solidFill>
              </a:rPr>
              <a:t>Interactive network map and route editor embedded in RE/TE operations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3243A"/>
                </a:solidFill>
              </a:rPr>
              <a:t>Saved/sent records and management register patterns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80760" y="3858768"/>
            <a:ext cx="5440680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4096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33"/>
                </a:solidFill>
              </a:rPr>
              <a:t>Protection, Control &amp; Metering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55080" y="4535424"/>
            <a:ext cx="46177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Live protection feed and active trouble reports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Transformer try requests and result workflow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Testing &amp; commissioning hubs for transformers, breakers, meters, cables and lines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Regional and Head PC&amp;M assurance dashboards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headom.html, re_te.html, headpcm.html, regionalpcm.html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PLANNING, INVESTMENT &amp; NETWORK MANAGEMENT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NETWORK-AWARE PLANNING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Planning decisions are linked to the real network responsibility model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P&amp;I pages combine project/work-program control with network planning, construction delivery, design review and executive/regional forms.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12648" y="1527048"/>
            <a:ext cx="6967728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kedco_ui/headpi.png">    </p:cNvPr>
          <p:cNvPicPr>
            <a:picLocks noChangeAspect="1"/>
          </p:cNvPicPr>
          <p:nvPr/>
        </p:nvPicPr>
        <p:blipFill>
          <a:blip r:embed="rId1"/>
          <a:srcRect l="1042" r="1042" t="0" b="0"/>
          <a:stretch/>
        </p:blipFill>
        <p:spPr>
          <a:xfrm>
            <a:off x="658368" y="1572768"/>
            <a:ext cx="6876288" cy="4389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99832" y="1572768"/>
            <a:ext cx="3730752" cy="43891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65008" y="18470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33"/>
                </a:solidFill>
              </a:rPr>
              <a:t>Network-enabled planning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65008" y="2331720"/>
            <a:ext cx="2999232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3243A"/>
                </a:solidFill>
              </a:rPr>
              <a:t>Priority projects and work programme portfolios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3243A"/>
                </a:solidFill>
              </a:rPr>
              <a:t>Network planning and capacity / development controls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3243A"/>
                </a:solidFill>
              </a:rPr>
              <a:t>Construction and delivery control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3243A"/>
                </a:solidFill>
              </a:rPr>
              <a:t>Design approval and quality-control workflows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3243A"/>
                </a:solidFill>
              </a:rPr>
              <a:t>Interactive topology / route context in technical pages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3243A"/>
                </a:solidFill>
              </a:rPr>
              <a:t>Region, RE/TE and feeder responsibility mapping for ownership clarity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headpi.html, regionalpi.html, Technical Administration network views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OPERATIONAL SUPPORT MODULES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CONTROL BEYOND THE CONTROL ROOM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HSE, Stores and Contractor control are included in the same governance framework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platform extends technical automation into the operational dependencies that influence safety, materials availability and project delivery.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737360"/>
            <a:ext cx="3383280" cy="109728"/>
          </a:xfrm>
          <a:prstGeom prst="rect">
            <a:avLst/>
          </a:prstGeom>
          <a:solidFill>
            <a:srgbClr val="D84B4B"/>
          </a:solidFill>
          <a:ln w="12700">
            <a:solidFill>
              <a:srgbClr val="D84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1A33"/>
                </a:solidFill>
              </a:rPr>
              <a:t>HSE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86968" y="2697480"/>
            <a:ext cx="2816352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3243A"/>
                </a:solidFill>
              </a:rPr>
              <a:t>Regional HSE performance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3243A"/>
                </a:solidFill>
              </a:rPr>
              <a:t>Incidents &amp; near misses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3243A"/>
                </a:solidFill>
              </a:rPr>
              <a:t>Corrective action management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3243A"/>
                </a:solidFill>
              </a:rPr>
              <a:t>Management / regional HSE eForms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352544" y="173736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2544" y="1737360"/>
            <a:ext cx="3383280" cy="109728"/>
          </a:xfrm>
          <a:prstGeom prst="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1A33"/>
                </a:solidFill>
              </a:rPr>
              <a:t>Stores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81144" y="2697480"/>
            <a:ext cx="2816352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3243A"/>
                </a:solidFill>
              </a:rPr>
              <a:t>Incoming booking queue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3243A"/>
                </a:solidFill>
              </a:rPr>
              <a:t>Stock value by category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3243A"/>
                </a:solidFill>
              </a:rPr>
              <a:t>Material booking control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3243A"/>
                </a:solidFill>
              </a:rPr>
              <a:t>Movement audit ledger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3243A"/>
                </a:solidFill>
              </a:rPr>
              <a:t>Automated reorder schedule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737360"/>
            <a:ext cx="3383280" cy="109728"/>
          </a:xfrm>
          <a:prstGeom prst="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1A33"/>
                </a:solidFill>
              </a:rPr>
              <a:t>Contractors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2697480"/>
            <a:ext cx="2816352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3243A"/>
                </a:solidFill>
              </a:rPr>
              <a:t>Work-order portfolio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3243A"/>
                </a:solidFill>
              </a:rPr>
              <a:t>HSE &amp; permit compliance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3243A"/>
                </a:solidFill>
              </a:rPr>
              <a:t>Progress &amp; QA/QC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3243A"/>
                </a:solidFill>
              </a:rPr>
              <a:t>Materials / equipment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3243A"/>
                </a:solidFill>
              </a:rPr>
              <a:t>Digital contractor forms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12648" y="5394960"/>
            <a:ext cx="347472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</p:sp>
      <p:pic>
        <p:nvPicPr>
          <p:cNvPr id="19" name="Image 0" descr="/mnt/data/kedco_ui/stores.png">    </p:cNvPr>
          <p:cNvPicPr>
            <a:picLocks noChangeAspect="1"/>
          </p:cNvPicPr>
          <p:nvPr/>
        </p:nvPicPr>
        <p:blipFill>
          <a:blip r:embed="rId1"/>
          <a:srcRect l="0" r="0" t="33135" b="33135"/>
          <a:stretch/>
        </p:blipFill>
        <p:spPr>
          <a:xfrm>
            <a:off x="658368" y="5440680"/>
            <a:ext cx="3383280" cy="7132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43400" y="55961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5DA8"/>
                </a:solidFill>
              </a:rPr>
              <a:t>Same platform principle: structured records, defined ownership, evidence, status and management visibility.</a:t>
            </a:r>
            <a:endParaRPr lang="en-US" sz="1130" dirty="0"/>
          </a:p>
        </p:txBody>
      </p:sp>
      <p:sp>
        <p:nvSpPr>
          <p:cNvPr id="21" name="Text 18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HSE, Stores and Contractor module pages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MIS, DATA QUALITY &amp; REPORTING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ENTER ONCE · REUSE MANY TIMES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 automation reduces repeated handling between operations and reporting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MIS module includes daily workday control, exact 33/11 kV eForms, forecast-vs-actual, energy/offtake views and a separate data-cleaning workspace.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12648" y="1527048"/>
            <a:ext cx="66751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kedco_ui/mis.png">    </p:cNvPr>
          <p:cNvPicPr>
            <a:picLocks noChangeAspect="1"/>
          </p:cNvPicPr>
          <p:nvPr/>
        </p:nvPicPr>
        <p:blipFill>
          <a:blip r:embed="rId1"/>
          <a:srcRect l="3608" r="3608" t="0" b="0"/>
          <a:stretch/>
        </p:blipFill>
        <p:spPr>
          <a:xfrm>
            <a:off x="658368" y="1572768"/>
            <a:ext cx="6583680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783080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0" y="18928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11312" y="1856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61A33"/>
                </a:solidFill>
              </a:rPr>
              <a:t>Import / enter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7854696" y="2221992"/>
            <a:ext cx="0" cy="393192"/>
          </a:xfrm>
          <a:prstGeom prst="line">
            <a:avLst/>
          </a:prstGeom>
          <a:noFill/>
          <a:ln w="25400">
            <a:solidFill>
              <a:srgbClr val="A9C4D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35240" y="2606040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0" y="27157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11312" y="2679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61A33"/>
                </a:solidFill>
              </a:rPr>
              <a:t>Validate &amp; clean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854696" y="3044952"/>
            <a:ext cx="0" cy="393192"/>
          </a:xfrm>
          <a:prstGeom prst="line">
            <a:avLst/>
          </a:prstGeom>
          <a:noFill/>
          <a:ln w="25400">
            <a:solidFill>
              <a:srgbClr val="A9C4D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35240" y="3429000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0" y="353872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11312" y="3502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61A33"/>
                </a:solidFill>
              </a:rPr>
              <a:t>Screen exceptions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7854696" y="3867912"/>
            <a:ext cx="0" cy="393192"/>
          </a:xfrm>
          <a:prstGeom prst="line">
            <a:avLst/>
          </a:prstGeom>
          <a:noFill/>
          <a:ln w="25400">
            <a:solidFill>
              <a:srgbClr val="A9C4D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35240" y="4251960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80960" y="43616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11312" y="4325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61A33"/>
                </a:solidFill>
              </a:rPr>
              <a:t>Generate outputs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7854696" y="4690872"/>
            <a:ext cx="0" cy="393192"/>
          </a:xfrm>
          <a:prstGeom prst="line">
            <a:avLst/>
          </a:prstGeom>
          <a:noFill/>
          <a:ln w="25400">
            <a:solidFill>
              <a:srgbClr val="A9C4D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35240" y="5074920"/>
            <a:ext cx="438912" cy="438912"/>
          </a:xfrm>
          <a:prstGeom prst="ellipse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0" y="518464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11312" y="5148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61A33"/>
                </a:solidFill>
              </a:rPr>
              <a:t>Management review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7635240" y="54864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DA8"/>
                </a:solidFill>
              </a:rPr>
              <a:t>Data workspace features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162288" y="541324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1758E"/>
                </a:solidFill>
              </a:rPr>
              <a:t>Issue distribution · cleaned preview · exception queue · numeric profile · missing data · category profile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mis.html + teamlead_operatiom_mis.html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EXECUTIVE MANAGEMENT VISIBILITY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FROM EVENT TO EXECUTIVE VIEW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Leadership dashboards are built into the same operational system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Executive pages are not detached reports: they summarize queues, performance, risks and responsibility gaps from the same application environment.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12648" y="1527048"/>
            <a:ext cx="6675120" cy="4553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kedco_ui/cto.png">    </p:cNvPr>
          <p:cNvPicPr>
            <a:picLocks noChangeAspect="1"/>
          </p:cNvPicPr>
          <p:nvPr/>
        </p:nvPicPr>
        <p:blipFill>
          <a:blip r:embed="rId1"/>
          <a:srcRect l="3893" r="3893" t="0" b="0"/>
          <a:stretch/>
        </p:blipFill>
        <p:spPr>
          <a:xfrm>
            <a:off x="658368" y="1572768"/>
            <a:ext cx="6583680" cy="44622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34656" y="1572768"/>
            <a:ext cx="4005072" cy="446227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08976" y="18470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33"/>
                </a:solidFill>
              </a:rPr>
              <a:t>Executive oversight surfaces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08976" y="2377440"/>
            <a:ext cx="3246120" cy="3090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CTO: head-of-unit snapshot, approvals, technical risks and directorate performance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Head System Operations: control-room activity, trips/outages, switching and system performance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Head O&amp;M: faults/restoration, maintenance programme and regional delivery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Head PC&amp;M: protection feed, trouble reports, transformer try requests and technical assurance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Head P&amp;I: priority projects, network development and delivery controls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Head HSE: regional assurance, incidents and corrective actions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executive and department-head dashboards in archive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LOCAL CLOUD &amp; HISTORICAL CONTINUITY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LOCAL STORAGE MODE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data remains under a local, structured storage model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application routes operational tables, uploads, snapshots and authentication through a local Express backend while browser storage retains preferences, drafts and local session context.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6537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1709928"/>
            <a:ext cx="1572768" cy="402336"/>
          </a:xfrm>
          <a:prstGeom prst="round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19656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Browser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70632" y="1792224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43A"/>
                </a:solidFill>
              </a:rPr>
              <a:t>Session · preferences · drafts · cached page data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114800" y="2221992"/>
            <a:ext cx="0" cy="182880"/>
          </a:xfrm>
          <a:prstGeom prst="line">
            <a:avLst/>
          </a:prstGeom>
          <a:noFill/>
          <a:ln w="19050">
            <a:solidFill>
              <a:srgbClr val="9DB5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404872"/>
            <a:ext cx="6537960" cy="621792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514600"/>
            <a:ext cx="1572768" cy="402336"/>
          </a:xfrm>
          <a:prstGeom prst="round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624328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Local Express backend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0632" y="2596896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43A"/>
                </a:solidFill>
              </a:rPr>
              <a:t>Authentication · API routes · files · tables · sync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114800" y="3026664"/>
            <a:ext cx="0" cy="182880"/>
          </a:xfrm>
          <a:prstGeom prst="line">
            <a:avLst/>
          </a:prstGeom>
          <a:noFill/>
          <a:ln w="19050">
            <a:solidFill>
              <a:srgbClr val="9DB5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209544"/>
            <a:ext cx="6537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3319272"/>
            <a:ext cx="1572768" cy="402336"/>
          </a:xfrm>
          <a:prstGeom prst="round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429000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cloud data/tables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70632" y="3401568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43A"/>
                </a:solidFill>
              </a:rPr>
              <a:t>Operational JSON records and event datasets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114800" y="3831336"/>
            <a:ext cx="0" cy="182880"/>
          </a:xfrm>
          <a:prstGeom prst="line">
            <a:avLst/>
          </a:prstGeom>
          <a:noFill/>
          <a:ln w="19050">
            <a:solidFill>
              <a:srgbClr val="9DB5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014216"/>
            <a:ext cx="6537960" cy="621792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" y="4123944"/>
            <a:ext cx="1572768" cy="402336"/>
          </a:xfrm>
          <a:prstGeom prst="round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233672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cloud data/files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70632" y="4206240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43A"/>
                </a:solidFill>
              </a:rPr>
              <a:t>Workflow attachments, evidence and source workbooks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114800" y="4636008"/>
            <a:ext cx="0" cy="182880"/>
          </a:xfrm>
          <a:prstGeom prst="line">
            <a:avLst/>
          </a:prstGeom>
          <a:noFill/>
          <a:ln w="19050">
            <a:solidFill>
              <a:srgbClr val="9DB5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818888"/>
            <a:ext cx="6537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552" y="4928616"/>
            <a:ext cx="1572768" cy="402336"/>
          </a:xfrm>
          <a:prstGeom prst="roundRect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038344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Snapshots &amp; backups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70632" y="5010912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43A"/>
                </a:solidFill>
              </a:rPr>
              <a:t>Historical snapshots, versioning and backup archives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726680" y="1600200"/>
            <a:ext cx="3703320" cy="3840480"/>
          </a:xfrm>
          <a:prstGeom prst="roundRect">
            <a:avLst>
              <a:gd name="adj" fmla="val 1975"/>
            </a:avLst>
          </a:prstGeom>
          <a:solidFill>
            <a:srgbClr val="F8FBFE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28432" y="1874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33"/>
                </a:solidFill>
              </a:rPr>
              <a:t>Evidence in this archive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28432" y="2468880"/>
            <a:ext cx="132588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28432" y="2468880"/>
            <a:ext cx="54864" cy="941832"/>
          </a:xfrm>
          <a:prstGeom prst="rect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93024" y="2587752"/>
            <a:ext cx="1069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1,351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193024" y="3035808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snapshots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193024" y="3099816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table snapshots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9555480" y="2468880"/>
            <a:ext cx="132588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55480" y="2468880"/>
            <a:ext cx="54864" cy="941832"/>
          </a:xfrm>
          <a:prstGeom prst="rect">
            <a:avLst/>
          </a:prstGeom>
          <a:solidFill>
            <a:srgbClr val="D84B4B"/>
          </a:solidFill>
          <a:ln w="12700">
            <a:solidFill>
              <a:srgbClr val="D84B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20072" y="2587752"/>
            <a:ext cx="1069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259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720072" y="3035808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audit events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9720072" y="3099816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audit stream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8028432" y="3593592"/>
            <a:ext cx="132588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28432" y="3593592"/>
            <a:ext cx="54864" cy="941832"/>
          </a:xfrm>
          <a:prstGeom prst="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93024" y="3712464"/>
            <a:ext cx="1069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17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8193024" y="4160520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file assets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8193024" y="422452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file registry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9555480" y="3593592"/>
            <a:ext cx="132588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55480" y="3593592"/>
            <a:ext cx="54864" cy="941832"/>
          </a:xfrm>
          <a:prstGeom prst="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20072" y="3712464"/>
            <a:ext cx="1069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2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9720072" y="4160520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backup sets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9720072" y="422452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snapshot bases in package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8028432" y="47914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1758E"/>
                </a:solidFill>
              </a:rPr>
              <a:t>Backup and restore procedures are included as PowerShell tooling in the project root.</a:t>
            </a:r>
            <a:endParaRPr lang="en-US" sz="930" dirty="0"/>
          </a:p>
        </p:txBody>
      </p:sp>
      <p:sp>
        <p:nvSpPr>
          <p:cNvPr id="53" name="Text 51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LOCAL_CLOUD_GUIDE.md + cloud data directory inventory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ROLE-BASED ACCESS &amp; RESPONSIBILITY CONTROLS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RIGHT USER · RIGHT VIEW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 is organized around real operational responsibility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user registry spans executive, control-room, regional, engineering, assurance, data, stores, procurement, finance, legal, contractor and supervisory roles.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72768"/>
            <a:ext cx="54864" cy="1143000"/>
          </a:xfrm>
          <a:prstGeom prst="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51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2139696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active users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822960" y="2404872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Current Local Cloud registry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154680" y="157276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572768"/>
            <a:ext cx="54864" cy="1143000"/>
          </a:xfrm>
          <a:prstGeom prst="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691640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55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19272" y="2139696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role codes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3319272" y="2404872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Distinct roles in current registry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650992" y="157276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50992" y="1572768"/>
            <a:ext cx="54864" cy="1143000"/>
          </a:xfrm>
          <a:prstGeom prst="rect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15584" y="1691640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52 / 52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815584" y="2139696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route targets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815584" y="2404872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Verified role-to-page routing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8147304" y="157276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7304" y="1572768"/>
            <a:ext cx="54864" cy="1143000"/>
          </a:xfrm>
          <a:prstGeom prst="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11896" y="1691640"/>
            <a:ext cx="2990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26 / 26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311896" y="2139696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operational pages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311896" y="2404872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Shared account controls verified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658368" y="3035808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1638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DA8"/>
                </a:solidFill>
              </a:rPr>
              <a:t>Executive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73936" y="315468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3243A"/>
                </a:solidFill>
              </a:rPr>
              <a:t>MD/CEO · CTO · Technical Administration · heads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4361688" y="3035808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31638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DA8"/>
                </a:solidFill>
              </a:rPr>
              <a:t>Operations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77256" y="315468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3243A"/>
                </a:solidFill>
              </a:rPr>
              <a:t>Head SO · Dispatch · Operator · Station Operator · Transmission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8065008" y="3035808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31638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DA8"/>
                </a:solidFill>
              </a:rPr>
              <a:t>Engineering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80576" y="315468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3243A"/>
                </a:solidFill>
              </a:rPr>
              <a:t>RE · TE · O&amp;M · PC&amp;M · Planning · HSE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58368" y="4178808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3068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DA8"/>
                </a:solidFill>
              </a:rPr>
              <a:t>Data &amp; commercial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773936" y="429768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3243A"/>
                </a:solidFill>
              </a:rPr>
              <a:t>MIS · Data Analyst · Analyzer · TMO · Stores · Procurement · Finance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4361688" y="4178808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43068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DA8"/>
                </a:solidFill>
              </a:rPr>
              <a:t>External / support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77256" y="429768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3243A"/>
                </a:solidFill>
              </a:rPr>
              <a:t>Contractors · Legal · Security · HR/Admin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8065008" y="4178808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43068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DA8"/>
                </a:solidFill>
              </a:rPr>
              <a:t>Supervision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180576" y="429768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3243A"/>
                </a:solidFill>
              </a:rPr>
              <a:t>Supervisor · Super Operator · Super RE/TE · Super Transmission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current users.json + 12 Sep verification report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ACCOUNTABILITY, TRACEABILITY &amp; AUDITABILITY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WHO · WHAT · WHEN · WHERE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important operational action can leave a structured trail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data model supports identity, timestamps, network context, status, workflow history, attachments and closing/restoration information.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4946904" y="1088136"/>
            <a:ext cx="2286000" cy="87782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5DA8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9784" y="12801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61A33"/>
                </a:solidFill>
              </a:rPr>
              <a:t>Identity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5129784" y="15453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61758E"/>
                </a:solidFill>
              </a:rPr>
              <a:t>User · role · sender · recipient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6089904" y="1527048"/>
            <a:ext cx="0" cy="1874520"/>
          </a:xfrm>
          <a:prstGeom prst="line">
            <a:avLst/>
          </a:prstGeom>
          <a:noFill/>
          <a:ln w="15240">
            <a:solidFill>
              <a:srgbClr val="C8D7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1774" y="2025396"/>
            <a:ext cx="2286000" cy="87782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4654" y="22174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61A33"/>
                </a:solidFill>
              </a:rPr>
              <a:t>Network context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7584654" y="24825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61758E"/>
                </a:solidFill>
              </a:rPr>
              <a:t>State · region · station · feeder · voltage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8544774" y="2464308"/>
            <a:ext cx="-2454870" cy="937260"/>
          </a:xfrm>
          <a:prstGeom prst="line">
            <a:avLst/>
          </a:prstGeom>
          <a:noFill/>
          <a:ln w="15240">
            <a:solidFill>
              <a:srgbClr val="C8D7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1774" y="3899916"/>
            <a:ext cx="2286000" cy="87782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6B21A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84654" y="40919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61A33"/>
                </a:solidFill>
              </a:rPr>
              <a:t>Event context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584654" y="43571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61758E"/>
                </a:solidFill>
              </a:rPr>
              <a:t>Operation type · reason · load lost · status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8544774" y="4338828"/>
            <a:ext cx="-2454870" cy="-937260"/>
          </a:xfrm>
          <a:prstGeom prst="line">
            <a:avLst/>
          </a:prstGeom>
          <a:noFill/>
          <a:ln w="15240">
            <a:solidFill>
              <a:srgbClr val="C8D7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46904" y="4837176"/>
            <a:ext cx="2286000" cy="87782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88F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9784" y="50292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61A33"/>
                </a:solidFill>
              </a:rPr>
              <a:t>Time context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5129784" y="52943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61758E"/>
                </a:solidFill>
              </a:rPr>
              <a:t>Created · opened · closed · received · reviewed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6089904" y="5276088"/>
            <a:ext cx="0" cy="-1874520"/>
          </a:xfrm>
          <a:prstGeom prst="line">
            <a:avLst/>
          </a:prstGeom>
          <a:noFill/>
          <a:ln w="15240">
            <a:solidFill>
              <a:srgbClr val="C8D7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92034" y="3899916"/>
            <a:ext cx="2286000" cy="87782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AD66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74914" y="40919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61A33"/>
                </a:solidFill>
              </a:rPr>
              <a:t>Evidence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2674914" y="43571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61758E"/>
                </a:solidFill>
              </a:rPr>
              <a:t>Attachments · file registry · workbook archive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3635034" y="4338828"/>
            <a:ext cx="2454870" cy="-937260"/>
          </a:xfrm>
          <a:prstGeom prst="line">
            <a:avLst/>
          </a:prstGeom>
          <a:noFill/>
          <a:ln w="15240">
            <a:solidFill>
              <a:srgbClr val="C8D7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92034" y="2025396"/>
            <a:ext cx="2286000" cy="87782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4B4B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674914" y="22174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61A33"/>
                </a:solidFill>
              </a:rPr>
              <a:t>Outcome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2674914" y="24825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61758E"/>
                </a:solidFill>
              </a:rPr>
              <a:t>Approval · feedback · restoration · result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3635034" y="2464308"/>
            <a:ext cx="2454870" cy="937260"/>
          </a:xfrm>
          <a:prstGeom prst="line">
            <a:avLst/>
          </a:prstGeom>
          <a:noFill/>
          <a:ln w="15240">
            <a:solidFill>
              <a:srgbClr val="C8D7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56048" y="2523744"/>
            <a:ext cx="2267712" cy="1755648"/>
          </a:xfrm>
          <a:prstGeom prst="ellipse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76088" y="2880360"/>
            <a:ext cx="1627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AUDITABLE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OPERATIONAL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RECORD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Local Cloud table schemas and workflow records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IMPLEMENTATION READINESS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VERIFIED 12 SEP 2026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consolidated Local Cloud edition passed a broad technical verification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project includes its own integration and verification report covering build, routing, dependencies, page serving, load-flow, Analyzer/TMO and eForms.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664208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2880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Backend TypeScript typecheck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907792" y="18928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AD66"/>
                </a:solidFill>
              </a:rPr>
              <a:t>PASS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664208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82880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Backend production build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6601968" y="18928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AD66"/>
                </a:solidFill>
              </a:rPr>
              <a:t>PASS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64208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82880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Operational pages with account controls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10296144" y="18928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AD66"/>
                </a:solidFill>
              </a:rPr>
              <a:t>26 / 26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07238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Role routing targets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2907792" y="31363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AD66"/>
                </a:solidFill>
              </a:rPr>
              <a:t>52 / 52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52544" y="2907792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307238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Local HTML dependencies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6601968" y="31363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5DA8"/>
                </a:solidFill>
              </a:rPr>
              <a:t>206 checked · 0 broken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0" y="2907792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307238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Inline JavaScript blocks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10296144" y="31363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AD66"/>
                </a:solidFill>
              </a:rPr>
              <a:t>62 / 62 PASS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4151376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31596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HTML pages served by backend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2907792" y="4379976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AD66"/>
                </a:solidFill>
              </a:rPr>
              <a:t>30 / 30 HTTP 200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52544" y="4151376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35424" y="431596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Integration checks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6601968" y="4379976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AD66"/>
                </a:solidFill>
              </a:rPr>
              <a:t>12 / 12 PASS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151376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431596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System Operations eForms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10296144" y="4379976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AD66"/>
                </a:solidFill>
              </a:rPr>
              <a:t>6 / 6 PASS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8368" y="5559552"/>
            <a:ext cx="10927080" cy="475488"/>
          </a:xfrm>
          <a:prstGeom prst="roundRect">
            <a:avLst/>
          </a:prstGeom>
          <a:solidFill>
            <a:srgbClr val="E6F7EF"/>
          </a:solidFill>
          <a:ln w="12700">
            <a:solidFill>
              <a:srgbClr val="BEE8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5705856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B7A4A"/>
                </a:solidFill>
              </a:rPr>
              <a:t>Verification report overall result: PASS — consolidated package buildable and tested Local Cloud integration paths passed.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LOCAL_CLOUD_TEST_REPORT.md and CLEANUP_AND_INTEGRATION_REPORT.md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MANAGEMENT BENEFITS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PROPOSED OPERATING IMPACT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value is operational discipline, visibility and speed—not a cosmetic dashboard upgrade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Benefits below describe the operating change enabled by the platform; no unsupported financial percentage or ROI claim is assumed.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804672" y="16002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4B4B"/>
                </a:solidFill>
              </a:rPr>
              <a:t>Before / operating risk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01968" y="1600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D66"/>
                </a:solidFill>
              </a:rPr>
              <a:t>Platform-enabled operating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61A33"/>
                </a:solidFill>
              </a:rPr>
              <a:t>Operational data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93392" y="1929384"/>
            <a:ext cx="3840480" cy="42062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1CD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7984" y="202996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B3A3A"/>
                </a:solidFill>
              </a:rPr>
              <a:t>Repeated manual entry and disconnected files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943600" y="1984248"/>
            <a:ext cx="411480" cy="292608"/>
          </a:xfrm>
          <a:prstGeom prst="chevron">
            <a:avLst/>
          </a:prstGeom>
          <a:solidFill>
            <a:srgbClr val="B4C7D9"/>
          </a:solidFill>
          <a:ln w="12700">
            <a:solidFill>
              <a:srgbClr val="B4C7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929384"/>
            <a:ext cx="4663440" cy="420624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C6E9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029968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C7046"/>
                </a:solidFill>
              </a:rPr>
              <a:t>Enter once, synchronize and reuse across views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685800" y="250545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61A33"/>
                </a:solidFill>
              </a:rPr>
              <a:t>Fault / outage coordination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93392" y="2468880"/>
            <a:ext cx="3840480" cy="42062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1CD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57984" y="25694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B3A3A"/>
                </a:solidFill>
              </a:rPr>
              <a:t>Phone/chat/file-dependent handoffs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943600" y="2523744"/>
            <a:ext cx="411480" cy="292608"/>
          </a:xfrm>
          <a:prstGeom prst="chevron">
            <a:avLst/>
          </a:prstGeom>
          <a:solidFill>
            <a:srgbClr val="B4C7D9"/>
          </a:solidFill>
          <a:ln w="12700">
            <a:solidFill>
              <a:srgbClr val="B4C7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468880"/>
            <a:ext cx="4663440" cy="420624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C6E9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2569464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C7046"/>
                </a:solidFill>
              </a:rPr>
              <a:t>Structured event, responsibility and restoration trail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685800" y="30449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61A33"/>
                </a:solidFill>
              </a:rPr>
              <a:t>Approvals &amp; eForms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93392" y="3008376"/>
            <a:ext cx="3840480" cy="42062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1CDC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57984" y="31089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B3A3A"/>
                </a:solidFill>
              </a:rPr>
              <a:t>Paper or loosely tracked document movement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5943600" y="3063240"/>
            <a:ext cx="411480" cy="292608"/>
          </a:xfrm>
          <a:prstGeom prst="chevron">
            <a:avLst/>
          </a:prstGeom>
          <a:solidFill>
            <a:srgbClr val="B4C7D9"/>
          </a:solidFill>
          <a:ln w="12700">
            <a:solidFill>
              <a:srgbClr val="B4C7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08376"/>
            <a:ext cx="4663440" cy="420624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C6E9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3108960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C7046"/>
                </a:solidFill>
              </a:rPr>
              <a:t>Digital routing, attachments, receipt, feedback and history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685800" y="35844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61A33"/>
                </a:solidFill>
              </a:rPr>
              <a:t>Feeder performance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93392" y="3547872"/>
            <a:ext cx="3840480" cy="42062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1CDC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57984" y="364845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B3A3A"/>
                </a:solidFill>
              </a:rPr>
              <a:t>Time-consuming workbook reconciliation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0" y="3602736"/>
            <a:ext cx="411480" cy="292608"/>
          </a:xfrm>
          <a:prstGeom prst="chevron">
            <a:avLst/>
          </a:prstGeom>
          <a:solidFill>
            <a:srgbClr val="B4C7D9"/>
          </a:solidFill>
          <a:ln w="12700">
            <a:solidFill>
              <a:srgbClr val="B4C7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547872"/>
            <a:ext cx="4663440" cy="420624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C6E9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3648456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C7046"/>
                </a:solidFill>
              </a:rPr>
              <a:t>Repeatable KPI analysis and monthly archive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685800" y="41239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61A33"/>
                </a:solidFill>
              </a:rPr>
              <a:t>Management visibility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993392" y="4087368"/>
            <a:ext cx="3840480" cy="42062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1CDC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57984" y="418795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B3A3A"/>
                </a:solidFill>
              </a:rPr>
              <a:t>Periodic compilation from multiple sources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5943600" y="4142232"/>
            <a:ext cx="411480" cy="292608"/>
          </a:xfrm>
          <a:prstGeom prst="chevron">
            <a:avLst/>
          </a:prstGeom>
          <a:solidFill>
            <a:srgbClr val="B4C7D9"/>
          </a:solidFill>
          <a:ln w="12700">
            <a:solidFill>
              <a:srgbClr val="B4C7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4087368"/>
            <a:ext cx="4663440" cy="420624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C6E9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4187952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C7046"/>
                </a:solidFill>
              </a:rPr>
              <a:t>Department and executive dashboards from shared records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685800" y="46634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61A33"/>
                </a:solidFill>
              </a:rPr>
              <a:t>Historical retrieval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993392" y="4626864"/>
            <a:ext cx="3840480" cy="42062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1CDC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57984" y="47274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B3A3A"/>
                </a:solidFill>
              </a:rPr>
              <a:t>Records distributed across devices and folders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5943600" y="4681728"/>
            <a:ext cx="411480" cy="292608"/>
          </a:xfrm>
          <a:prstGeom prst="chevron">
            <a:avLst/>
          </a:prstGeom>
          <a:solidFill>
            <a:srgbClr val="B4C7D9"/>
          </a:solidFill>
          <a:ln w="12700">
            <a:solidFill>
              <a:srgbClr val="B4C7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92240" y="4626864"/>
            <a:ext cx="4663440" cy="420624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C6E9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4727448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C7046"/>
                </a:solidFill>
              </a:rPr>
              <a:t>Local Cloud tables, files, snapshots and backups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685800" y="52029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61A33"/>
                </a:solidFill>
              </a:rPr>
              <a:t>Accountability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993392" y="5166360"/>
            <a:ext cx="3840480" cy="42062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1CDC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57984" y="526694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B3A3A"/>
                </a:solidFill>
              </a:rPr>
              <a:t>Harder to reconstruct action ownership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5943600" y="5221224"/>
            <a:ext cx="411480" cy="292608"/>
          </a:xfrm>
          <a:prstGeom prst="chevron">
            <a:avLst/>
          </a:prstGeom>
          <a:solidFill>
            <a:srgbClr val="B4C7D9"/>
          </a:solidFill>
          <a:ln w="12700">
            <a:solidFill>
              <a:srgbClr val="B4C7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92240" y="5166360"/>
            <a:ext cx="4663440" cy="420624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C6E9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56832" y="5266944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C7046"/>
                </a:solidFill>
              </a:rPr>
              <a:t>User, role, time, feeder, status and outcome traceability</a:t>
            </a:r>
            <a:endParaRPr lang="en-US" sz="860" dirty="0"/>
          </a:p>
        </p:txBody>
      </p:sp>
      <p:sp>
        <p:nvSpPr>
          <p:cNvPr id="50" name="Text 48"/>
          <p:cNvSpPr/>
          <p:nvPr/>
        </p:nvSpPr>
        <p:spPr>
          <a:xfrm>
            <a:off x="1143000" y="59161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5DA8"/>
                </a:solidFill>
              </a:rPr>
              <a:t>Strategic result: faster coordination, stronger data discipline, clearer responsibility and a more reliable management information chain.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IMPLEMENTATION APPROACH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CONTROLLED ROLLOUT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 in governed phases without disrupting technical operations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application is already structured for role-based deployment; implementation can focus on controlled configuration, data preservation, user readiness and operating adoption.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1298448" y="1664208"/>
            <a:ext cx="585216" cy="585216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1847088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83664" y="1947672"/>
            <a:ext cx="1673352" cy="0"/>
          </a:xfrm>
          <a:prstGeom prst="line">
            <a:avLst/>
          </a:prstGeom>
          <a:noFill/>
          <a:ln w="25400">
            <a:solidFill>
              <a:srgbClr val="A9C2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496312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432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1A33"/>
                </a:solidFill>
              </a:rPr>
              <a:t>Baseline &amp; preserve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493008"/>
            <a:ext cx="166420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Back up current cloud data, confirm live workstation version and freeze implementation baseline.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538728" y="1664208"/>
            <a:ext cx="585216" cy="585216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1847088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23944" y="1947672"/>
            <a:ext cx="1673352" cy="0"/>
          </a:xfrm>
          <a:prstGeom prst="line">
            <a:avLst/>
          </a:prstGeom>
          <a:noFill/>
          <a:ln w="25400">
            <a:solidFill>
              <a:srgbClr val="A9C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98648" y="2496312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7432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1A33"/>
                </a:solidFill>
              </a:rPr>
              <a:t>Configure &amp; validate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63240" y="3493008"/>
            <a:ext cx="166420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Confirm users, roles, regions, stations, feeders, routing authorities, forms and operating rules.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779008" y="1664208"/>
            <a:ext cx="585216" cy="585216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0448" y="1847088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64224" y="1947672"/>
            <a:ext cx="1673352" cy="0"/>
          </a:xfrm>
          <a:prstGeom prst="line">
            <a:avLst/>
          </a:prstGeom>
          <a:noFill/>
          <a:ln w="25400">
            <a:solidFill>
              <a:srgbClr val="A9C2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38928" y="2496312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27432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1A33"/>
                </a:solidFill>
              </a:rPr>
              <a:t>Pilot operations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3493008"/>
            <a:ext cx="166420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Deploy with selected control-room / technical teams; validate real data, workflows and management outputs.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019288" y="1664208"/>
            <a:ext cx="585216" cy="585216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1847088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604504" y="1947672"/>
            <a:ext cx="1673352" cy="0"/>
          </a:xfrm>
          <a:prstGeom prst="line">
            <a:avLst/>
          </a:prstGeom>
          <a:noFill/>
          <a:ln w="25400">
            <a:solidFill>
              <a:srgbClr val="A9C2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79208" y="2496312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27432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1A33"/>
                </a:solidFill>
              </a:rPr>
              <a:t>Directorate rollout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43800" y="3493008"/>
            <a:ext cx="166420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Extend to O&amp;M, PC&amp;M, P&amp;I, HSE, MIS, Stores, Contractors and executive dashboards.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10259568" y="1664208"/>
            <a:ext cx="585216" cy="585216"/>
          </a:xfrm>
          <a:prstGeom prst="ellipse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51008" y="1847088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19488" y="2496312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0" y="27432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1A33"/>
                </a:solidFill>
              </a:rPr>
              <a:t>Govern &amp; optimize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784080" y="3493008"/>
            <a:ext cx="166420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Training, SOP alignment, backup schedule, support, change control, analytics refinement and future integrations.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58368" y="5504688"/>
            <a:ext cx="10927080" cy="49377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" y="566928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D84B4B"/>
                </a:solidFill>
              </a:rPr>
              <a:t>Critical deployment rule from the project documentation: preserve the live workstation cloud data before replacing code or migrating operational records.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deployment note in LOCAL_CLOUD_TEST_REPORT.md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SCALABILITY &amp; FUTURE EXPANSION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BUILD ON THE PLATFORM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architecture creates a foundation for further technical digitalization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Future opportunities can be added around the same identity, data, workflow and network model instead of creating new isolated applications.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856232"/>
            <a:ext cx="457200" cy="457200"/>
          </a:xfrm>
          <a:prstGeom prst="round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96596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08176" y="18562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61A33"/>
                </a:solidFill>
              </a:rPr>
              <a:t>Enterprise hosting options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1408176" y="2295144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Retain Local Cloud, add controlled central server, hybrid replication or approved cloud hosting.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361688" y="16916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7136" y="1856232"/>
            <a:ext cx="457200" cy="457200"/>
          </a:xfrm>
          <a:prstGeom prst="round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96596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11496" y="18562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61A33"/>
                </a:solidFill>
              </a:rPr>
              <a:t>SCADA / telemetry integration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5111496" y="2295144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Bring machine data into the same operational and management views where interfaces are available.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065008" y="16916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0456" y="1856232"/>
            <a:ext cx="457200" cy="457200"/>
          </a:xfrm>
          <a:prstGeom prst="round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0184" y="196596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14816" y="18562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61A33"/>
                </a:solidFill>
              </a:rPr>
              <a:t>Mobile field execution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8814816" y="2295144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Responsive workflows for fault teams, fitters, jointers, HSE and project supervision.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58368" y="35204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" y="3685032"/>
            <a:ext cx="457200" cy="457200"/>
          </a:xfrm>
          <a:prstGeom prst="round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" y="379476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08176" y="36850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61A33"/>
                </a:solidFill>
              </a:rPr>
              <a:t>Advanced forecasting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1408176" y="4123944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Expand load / energy forecast models and exception detection using verified historical records.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361688" y="35204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17136" y="3685032"/>
            <a:ext cx="457200" cy="457200"/>
          </a:xfrm>
          <a:prstGeom prst="round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379476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11496" y="36850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61A33"/>
                </a:solidFill>
              </a:rPr>
              <a:t>Asset intelligence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5111496" y="4123944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Connect feeder, transformer, breaker, relay, meter and maintenance histories into lifecycle views.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8065008" y="35204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0456" y="3685032"/>
            <a:ext cx="457200" cy="457200"/>
          </a:xfrm>
          <a:prstGeom prst="round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0184" y="379476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36850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61A33"/>
                </a:solidFill>
              </a:rPr>
              <a:t>Executive reporting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8814816" y="4123944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Automated management packs, performance alerts and board-ready trend reporting.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1005840" y="56327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5DA8"/>
                </a:solidFill>
              </a:rPr>
              <a:t>Expansion principle: integrate where value is clear; preserve the core operational data model and audit trail.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edco_app_extract/KEDCO-Automation-LOCAL-STORAGE-COMPLETE/frontend/assets/kedco-landing-slide-03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82000"/>
            </a:srgbClr>
          </a:solidFill>
          <a:ln w="12700">
            <a:solidFill>
              <a:srgbClr val="061A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995160" cy="6858000"/>
          </a:xfrm>
          <a:prstGeom prst="rect">
            <a:avLst/>
          </a:prstGeom>
          <a:solidFill>
            <a:srgbClr val="061A33">
              <a:alpha val="90000"/>
            </a:srgbClr>
          </a:solidFill>
          <a:ln w="12700">
            <a:solidFill>
              <a:srgbClr val="061A33">
                <a:alpha val="0"/>
              </a:srgbClr>
            </a:solidFill>
            <a:prstDash val="solid"/>
          </a:ln>
        </p:spPr>
      </p:sp>
      <p:pic>
        <p:nvPicPr>
          <p:cNvPr id="5" name="Image 1" descr="/mnt/data/kedc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" y="457200"/>
            <a:ext cx="1889760" cy="5669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389888"/>
            <a:ext cx="2194560" cy="256032"/>
          </a:xfrm>
          <a:prstGeom prst="rect">
            <a:avLst/>
          </a:prstGeom>
          <a:solidFill>
            <a:srgbClr val="F0C94D"/>
          </a:solidFill>
          <a:ln>
            <a:solidFill>
              <a:srgbClr val="F0C94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61A33"/>
                </a:solidFill>
              </a:rPr>
              <a:t>EXECUTIVE CALL TO ACTION</a:t>
            </a:r>
            <a:endParaRPr lang="en-US" sz="830" dirty="0"/>
          </a:p>
        </p:txBody>
      </p:sp>
      <p:sp>
        <p:nvSpPr>
          <p:cNvPr id="7" name="Text 3"/>
          <p:cNvSpPr/>
          <p:nvPr/>
        </p:nvSpPr>
        <p:spPr>
          <a:xfrm>
            <a:off x="685800" y="18745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 strong investment is one that improves the operating system of the business.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713232" y="3218688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EF8"/>
                </a:solidFill>
              </a:rPr>
              <a:t>KEDCO Technical Automation already demonstrates the core platform, module breadth, workflow logic, Local Cloud persistence, role control and verified integration paths required for a controlled implementation programme.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13232" y="4480560"/>
            <a:ext cx="5440680" cy="932688"/>
          </a:xfrm>
          <a:prstGeom prst="roundRect">
            <a:avLst/>
          </a:prstGeom>
          <a:solidFill>
            <a:srgbClr val="0B2D57">
              <a:alpha val="92000"/>
            </a:srgbClr>
          </a:solidFill>
          <a:ln w="12700">
            <a:solidFill>
              <a:srgbClr val="5F88B6">
                <a:alpha val="7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32688" y="46908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B21A"/>
                </a:solidFill>
              </a:rPr>
              <a:t>Recommended management action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32688" y="5020056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Authorize a formal implementation / pilot engagement, preserve the current operational dataset, confirm production scope and execute a governed rollout with management checkpoints.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13232" y="61447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E6B21A"/>
                </a:solidFill>
              </a:rPr>
              <a:t>YAJIB SMART SOLUTION UNIVERSAL LIMITED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315200" y="62362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E7F5"/>
                </a:solidFill>
              </a:rPr>
              <a:t>KEDCO Technical Automation · Executive Management Proposal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YAJIB SMART SOLUTION UNIVERSAL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KEDCO Technical Automation Platform</dc:title>
  <dc:subject>KEDCO Technical Automation Executive Management &amp; Contract-Award Proposal</dc:subject>
  <dc:creator>YAJIB SMART SOLUTION UNIVERSAL LIMITED</dc:creator>
  <cp:lastModifiedBy>YAJIB SMART SOLUTION UNIVERSAL LIMITED</cp:lastModifiedBy>
  <cp:revision>1</cp:revision>
  <dcterms:created xsi:type="dcterms:W3CDTF">2026-09-26T13:09:46Z</dcterms:created>
  <dcterms:modified xsi:type="dcterms:W3CDTF">2026-09-26T13:09:46Z</dcterms:modified>
</cp:coreProperties>
</file>