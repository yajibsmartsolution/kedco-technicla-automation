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1"/>
    <p:sldId id="266" r:id="rId12"/>
    <p:sldId id="267" r:id="rId13"/>
    <p:sldId id="268" r:id="rId14"/>
    <p:sldId id="272" r:id="rId18"/>
    <p:sldId id="276" r:id="rId22"/>
    <p:sldId id="277" r:id="rId23"/>
    <p:sldId id="278" r:id="rId24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8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DCO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B21A"/>
          </a:solidFill>
          <a:ln w="12700">
            <a:solidFill>
              <a:srgbClr val="E6B2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A2A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KEDCO TECHNICAL AUTOMATION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498080" y="6574536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57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YAJIB SMART SOLUTION UNIVERSAL LIMITED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5624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edco_app_extract/KEDCO-Automation-LOCAL-STORAGE-COMPLETE/frontend/assets/kedco-landing-slide-0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>
              <a:alpha val="74000"/>
            </a:srgbClr>
          </a:solidFill>
          <a:ln w="12700">
            <a:solidFill>
              <a:srgbClr val="061A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61A33">
              <a:alpha val="85000"/>
            </a:srgbClr>
          </a:solidFill>
          <a:ln w="12700">
            <a:solidFill>
              <a:srgbClr val="061A33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1" descr="/mnt/data/kedc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08" y="438912"/>
            <a:ext cx="2072640" cy="62179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389888"/>
            <a:ext cx="5806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KEDCO TECHNICAL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AUTOMATION PLATFORM</a:t>
            </a:r>
            <a:endParaRPr lang="en-US" sz="3300" dirty="0"/>
          </a:p>
        </p:txBody>
      </p:sp>
      <p:sp>
        <p:nvSpPr>
          <p:cNvPr id="7" name="Text 3"/>
          <p:cNvSpPr/>
          <p:nvPr/>
        </p:nvSpPr>
        <p:spPr>
          <a:xfrm>
            <a:off x="713232" y="288036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9E9FB"/>
                </a:solidFill>
              </a:rPr>
              <a:t>Executive Management &amp; Implementation Contract Proposal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713232" y="3493008"/>
            <a:ext cx="5303520" cy="1005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sz="1250">
                <a:solidFill>
                  <a:srgbClr val="E5EEF8"/>
                </a:solidFill>
              </a:rPr>
              <a:t>A comprehensive, implementation-ready operating platform for dispatch, feeder intelligence, technical workflows, departmental control, secure operational records and executive decision support.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13232" y="4818888"/>
            <a:ext cx="2423160" cy="256032"/>
          </a:xfrm>
          <a:prstGeom prst="rect">
            <a:avLst/>
          </a:prstGeom>
          <a:solidFill>
            <a:srgbClr val="F0C94D"/>
          </a:solidFill>
          <a:ln>
            <a:solidFill>
              <a:srgbClr val="F0C94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61A33"/>
                </a:solidFill>
              </a:rPr>
              <a:t>APPLICATION-DERIVED EVIDENCE</a:t>
            </a:r>
            <a:endParaRPr lang="en-US" sz="830" dirty="0"/>
          </a:p>
        </p:txBody>
      </p:sp>
      <p:sp>
        <p:nvSpPr>
          <p:cNvPr id="10" name="Text 6"/>
          <p:cNvSpPr/>
          <p:nvPr/>
        </p:nvSpPr>
        <p:spPr>
          <a:xfrm>
            <a:off x="713232" y="523951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F1FA"/>
                </a:solidFill>
              </a:rPr>
              <a:t>Prepared for KEDCO Executive Management · CTO · Senior Technical Leadership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13232" y="60990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E6B21A"/>
                </a:solidFill>
              </a:rPr>
              <a:t>YAJIB SMART SOLUTION UNIVERSAL LIMITED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EXECUTIVE PROPOSITION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ONE OPERATING PICTURE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fragmented technical activity to one governed operational platform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 system connects frontline operations, technical departments, analytics, approvals, records and executive oversight in a single operating model.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7040880" y="1527048"/>
            <a:ext cx="4663440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E6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7" name="Image 0" descr="/mnt/data/kedco_app_extract/KEDCO-Automation-LOCAL-STORAGE-COMPLETE/frontend/assets/kedco-landing-slide-07.png">    </p:cNvPr>
          <p:cNvPicPr>
            <a:picLocks noChangeAspect="1"/>
          </p:cNvPicPr>
          <p:nvPr/>
        </p:nvPicPr>
        <p:blipFill>
          <a:blip r:embed="rId1"/>
          <a:srcRect l="19546" r="19545" t="0" b="0"/>
          <a:stretch/>
        </p:blipFill>
        <p:spPr>
          <a:xfrm>
            <a:off x="7086600" y="1572768"/>
            <a:ext cx="4572000" cy="42245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6276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33"/>
                </a:solidFill>
              </a:rPr>
              <a:t>The management case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7512" y="2057400"/>
            <a:ext cx="589788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None/>
            </a:pPr>
            <a:r>
              <a:rPr sz="1400">
                <a:solidFill>
                  <a:srgbClr val="13243A"/>
                </a:solidFill>
              </a:rPr>
              <a:t>• Capture operational data once and reuse it across dashboards, reports and workflows.</a:t>
            </a:r>
            <a:endParaRPr lang="en-US" sz="1400" dirty="0"/>
          </a:p>
          <a:p>
            <a:pPr>
              <a:buNone/>
            </a:pPr>
            <a:r>
              <a:rPr sz="1400">
                <a:solidFill>
                  <a:srgbClr val="13243A"/>
                </a:solidFill>
              </a:rPr>
              <a:t>• Coordinate switching, faults, outages, feeder performance and departmental actions.</a:t>
            </a:r>
          </a:p>
          <a:p>
            <a:pPr>
              <a:buNone/>
            </a:pPr>
            <a:r>
              <a:rPr sz="1400">
                <a:solidFill>
                  <a:srgbClr val="13243A"/>
                </a:solidFill>
              </a:rPr>
              <a:t>• Give management one consistent view of operations, responsibility and performance.</a:t>
            </a:r>
          </a:p>
          <a:p>
            <a:pPr>
              <a:buNone/>
            </a:pPr>
            <a:r>
              <a:rPr sz="1400">
                <a:solidFill>
                  <a:srgbClr val="13243A"/>
                </a:solidFill>
              </a:rPr>
              <a:t>• Retain structured historical records, files, workflow evidence and audit events.</a:t>
            </a:r>
          </a:p>
          <a:p>
            <a:pPr>
              <a:buNone/>
            </a:pPr>
            <a:r>
              <a:rPr sz="1400">
                <a:solidFill>
                  <a:srgbClr val="13243A"/>
                </a:solidFill>
              </a:rPr>
              <a:t>• Scale across regions, stations, departments and future integrations.</a:t>
            </a:r>
          </a:p>
        </p:txBody>
      </p:sp>
      <p:sp>
        <p:nvSpPr>
          <p:cNvPr id="10" name="Shape 7"/>
          <p:cNvSpPr/>
          <p:nvPr/>
        </p:nvSpPr>
        <p:spPr>
          <a:xfrm>
            <a:off x="658368" y="5486400"/>
            <a:ext cx="5925312" cy="530352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BFD8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50392" y="563270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0F5DA8"/>
                </a:solidFill>
              </a:rPr>
              <a:t>Management message: this is not a single dashboard; it is an integrated technical operations platform.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none"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r>
              <a:rPr sz="850">
                <a:solidFill>
                  <a:srgbClr val="5A6E87"/>
                </a:solidFill>
                <a:latin typeface="Aptos"/>
              </a:rPr>
              <a:t>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VERIFIED IMPLEMENTATION FOOTPRINT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ACTUAL SYSTEM DATA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substantial working application already exists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20">
                <a:solidFill>
                  <a:srgbClr val="61758E"/>
                </a:solidFill>
              </a:rPr>
              <a:t>Figures below are taken from the uploaded application archive and persisted system records—not projected adoption statistics.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21792" y="1572768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21792" y="1572768"/>
            <a:ext cx="54864" cy="1097280"/>
          </a:xfrm>
          <a:prstGeom prst="rect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86384" y="1691640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37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86384" y="2139696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HTML application pages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786384" y="2359152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Operational + admin + utility pages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2907792" y="1572768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907792" y="1572768"/>
            <a:ext cx="54864" cy="1097280"/>
          </a:xfrm>
          <a:prstGeom prst="rect">
            <a:avLst/>
          </a:prstGeom>
          <a:solidFill>
            <a:srgbClr val="00A88F"/>
          </a:solidFill>
          <a:ln w="12700">
            <a:solidFill>
              <a:srgbClr val="00A88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072384" y="1691640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51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072384" y="2139696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20" b="1">
                <a:solidFill>
                  <a:srgbClr val="13243A"/>
                </a:solidFill>
              </a:rPr>
              <a:t>configured users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3072384" y="2359152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740">
                <a:solidFill>
                  <a:srgbClr val="61758E"/>
                </a:solidFill>
              </a:rPr>
              <a:t>Current application user registry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5193792" y="1572768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193792" y="1572768"/>
            <a:ext cx="54864" cy="1097280"/>
          </a:xfrm>
          <a:prstGeom prst="rect">
            <a:avLst/>
          </a:prstGeom>
          <a:solidFill>
            <a:srgbClr val="E6B21A"/>
          </a:solidFill>
          <a:ln w="12700">
            <a:solidFill>
              <a:srgbClr val="E6B21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358384" y="1691640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55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358384" y="2139696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configured role codes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5358384" y="2359152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Executive, technical &amp; field roles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7479792" y="1572768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479792" y="1572768"/>
            <a:ext cx="54864" cy="10972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644384" y="1691640"/>
            <a:ext cx="1892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226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644384" y="2139696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feeder identities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7644384" y="2359152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Across persisted live-operation data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9765792" y="1572768"/>
            <a:ext cx="1783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765792" y="1572768"/>
            <a:ext cx="54864" cy="1097280"/>
          </a:xfrm>
          <a:prstGeom prst="rect">
            <a:avLst/>
          </a:prstGeom>
          <a:solidFill>
            <a:srgbClr val="2EAD66"/>
          </a:solidFill>
          <a:ln w="12700">
            <a:solidFill>
              <a:srgbClr val="2EAD6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930384" y="1691640"/>
            <a:ext cx="1527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60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930384" y="2139696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stations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9930384" y="2359152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Persisted live-operation data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621792" y="2907792"/>
            <a:ext cx="109728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41248" y="3127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A33"/>
                </a:solidFill>
              </a:rPr>
              <a:t>Persisted operational evidence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9536" y="36393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43A"/>
                </a:solidFill>
              </a:rPr>
              <a:t>Station live-operation records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962656" y="3666744"/>
            <a:ext cx="2331720" cy="128016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E6EDF5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2962656" y="3666744"/>
            <a:ext cx="2295423" cy="128016"/>
          </a:xfrm>
          <a:prstGeom prst="roundRect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367528" y="362102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61A33"/>
                </a:solidFill>
              </a:rPr>
              <a:t>88,599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59536" y="406908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43A"/>
                </a:solidFill>
              </a:rPr>
              <a:t>33 kV load-flow records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962656" y="4096512"/>
            <a:ext cx="2331720" cy="128016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E6EDF5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2962656" y="4096512"/>
            <a:ext cx="1861925" cy="128016"/>
          </a:xfrm>
          <a:prstGeom prst="round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367528" y="405079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61A33"/>
                </a:solidFill>
              </a:rPr>
              <a:t>39,926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59536" y="44988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43A"/>
                </a:solidFill>
              </a:rPr>
              <a:t>11 kV load-flow records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962656" y="4526280"/>
            <a:ext cx="2331720" cy="128016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E6EDF5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2962656" y="4526280"/>
            <a:ext cx="2265033" cy="128016"/>
          </a:xfrm>
          <a:prstGeom prst="roundRect">
            <a:avLst/>
          </a:prstGeom>
          <a:solidFill>
            <a:srgbClr val="00A88F"/>
          </a:solidFill>
          <a:ln w="12700">
            <a:solidFill>
              <a:srgbClr val="00A88F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367528" y="448056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61A33"/>
                </a:solidFill>
              </a:rPr>
              <a:t>48,570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59536" y="492861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3243A"/>
                </a:solidFill>
              </a:rPr>
              <a:t>Historical data snapshots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962656" y="4956048"/>
            <a:ext cx="2331720" cy="128016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E6EDF5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2962656" y="4956048"/>
            <a:ext cx="2100102" cy="128016"/>
          </a:xfrm>
          <a:prstGeom prst="roundRect">
            <a:avLst/>
          </a:prstGeom>
          <a:solidFill>
            <a:srgbClr val="E6B21A"/>
          </a:solidFill>
          <a:ln w="12700">
            <a:solidFill>
              <a:srgbClr val="E6B21A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367528" y="491032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61A33"/>
                </a:solidFill>
              </a:rPr>
              <a:t>1,351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080760" y="3246120"/>
            <a:ext cx="0" cy="2011680"/>
          </a:xfrm>
          <a:prstGeom prst="line">
            <a:avLst/>
          </a:prstGeom>
          <a:noFill/>
          <a:ln w="1270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382512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1A33"/>
                </a:solidFill>
              </a:rPr>
              <a:t>Operational governance evidence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6400800" y="3584448"/>
            <a:ext cx="15544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6400800" y="3584448"/>
            <a:ext cx="54864" cy="987552"/>
          </a:xfrm>
          <a:prstGeom prst="rect">
            <a:avLst/>
          </a:prstGeom>
          <a:solidFill>
            <a:srgbClr val="D84B4B"/>
          </a:solidFill>
          <a:ln w="12700">
            <a:solidFill>
              <a:srgbClr val="D84B4B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565392" y="370332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259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6565392" y="415137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audit events</a:t>
            </a:r>
            <a:endParaRPr lang="en-US" sz="920" dirty="0"/>
          </a:p>
        </p:txBody>
      </p:sp>
      <p:sp>
        <p:nvSpPr>
          <p:cNvPr id="55" name="Text 53"/>
          <p:cNvSpPr/>
          <p:nvPr/>
        </p:nvSpPr>
        <p:spPr>
          <a:xfrm>
            <a:off x="6565392" y="426110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Audit JSONL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8101584" y="3584448"/>
            <a:ext cx="15544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8101584" y="3584448"/>
            <a:ext cx="54864" cy="987552"/>
          </a:xfrm>
          <a:prstGeom prst="rect">
            <a:avLst/>
          </a:prstGeom>
          <a:solidFill>
            <a:srgbClr val="E6B21A"/>
          </a:solidFill>
          <a:ln w="12700">
            <a:solidFill>
              <a:srgbClr val="E6B21A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8266176" y="370332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39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8266176" y="415137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daily-log events</a:t>
            </a:r>
            <a:endParaRPr lang="en-US" sz="920" dirty="0"/>
          </a:p>
        </p:txBody>
      </p:sp>
      <p:sp>
        <p:nvSpPr>
          <p:cNvPr id="60" name="Text 58"/>
          <p:cNvSpPr/>
          <p:nvPr/>
        </p:nvSpPr>
        <p:spPr>
          <a:xfrm>
            <a:off x="8266176" y="426110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Persisted event register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9802368" y="3584448"/>
            <a:ext cx="15544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9802368" y="3584448"/>
            <a:ext cx="54864" cy="987552"/>
          </a:xfrm>
          <a:prstGeom prst="rect">
            <a:avLst/>
          </a:prstGeom>
          <a:solidFill>
            <a:srgbClr val="00A88F"/>
          </a:solidFill>
          <a:ln w="12700">
            <a:solidFill>
              <a:srgbClr val="00A88F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9966960" y="3703320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61A33"/>
                </a:solidFill>
              </a:rPr>
              <a:t>17</a:t>
            </a:r>
            <a:endParaRPr lang="en-US" sz="2400" dirty="0"/>
          </a:p>
        </p:txBody>
      </p:sp>
      <p:sp>
        <p:nvSpPr>
          <p:cNvPr id="64" name="Text 62"/>
          <p:cNvSpPr/>
          <p:nvPr/>
        </p:nvSpPr>
        <p:spPr>
          <a:xfrm>
            <a:off x="9966960" y="415137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3243A"/>
                </a:solidFill>
              </a:rPr>
              <a:t>file assets</a:t>
            </a:r>
            <a:endParaRPr lang="en-US" sz="920" dirty="0"/>
          </a:p>
        </p:txBody>
      </p:sp>
      <p:sp>
        <p:nvSpPr>
          <p:cNvPr id="65" name="Text 63"/>
          <p:cNvSpPr/>
          <p:nvPr/>
        </p:nvSpPr>
        <p:spPr>
          <a:xfrm>
            <a:off x="9966960" y="426110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1758E"/>
                </a:solidFill>
              </a:rPr>
              <a:t>Registered evidence files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6400800" y="4846320"/>
            <a:ext cx="4892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1758E"/>
                </a:solidFill>
              </a:rPr>
              <a:t>Load-flow archive shown here covers eight persisted September 2026 dates in this uploaded package; it is evidence of capability, not a claim of full-period completeness.</a:t>
            </a:r>
            <a:endParaRPr lang="en-US" sz="920" dirty="0"/>
          </a:p>
        </p:txBody>
      </p:sp>
      <p:sp>
        <p:nvSpPr>
          <p:cNvPr id="67" name="Text 65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KEDCO Technical Automation application archive reviewed 26 Sep 2026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none"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r>
              <a:rPr sz="850">
                <a:solidFill>
                  <a:srgbClr val="5A6E87"/>
                </a:solidFill>
                <a:latin typeface="Aptos"/>
              </a:rPr>
              <a:t>3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OPERATIONAL CHALLENGE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PROCESS RISKS ADDRESSED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platform is designed around the problems that slow technical operations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These are operating risks the application explicitly addresses through its workflows and control logic—not unsupported claims about current KEDCO performance.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583680" y="1490472"/>
            <a:ext cx="512064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E6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7" name="Image 0" descr="/mnt/data/kedco_app_extract/KEDCO-Automation-LOCAL-STORAGE-COMPLETE/frontend/assets/kedco-landing-slide-02.png">    </p:cNvPr>
          <p:cNvPicPr>
            <a:picLocks noChangeAspect="1"/>
          </p:cNvPicPr>
          <p:nvPr/>
        </p:nvPicPr>
        <p:blipFill>
          <a:blip r:embed="rId1"/>
          <a:srcRect l="18733" r="18733" t="0" b="0"/>
          <a:stretch/>
        </p:blipFill>
        <p:spPr>
          <a:xfrm>
            <a:off x="6629400" y="1536192"/>
            <a:ext cx="5029200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" y="1627632"/>
            <a:ext cx="438912" cy="438912"/>
          </a:xfrm>
          <a:prstGeom prst="ellipse">
            <a:avLst/>
          </a:prstGeom>
          <a:solidFill>
            <a:srgbClr val="D84B4B"/>
          </a:solidFill>
          <a:ln w="12700">
            <a:solidFill>
              <a:srgbClr val="D84B4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04088" y="17373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234440" y="16184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61A33"/>
                </a:solidFill>
              </a:rPr>
              <a:t>Fragmented records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2971800" y="1618488"/>
            <a:ext cx="329184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3243A"/>
                </a:solidFill>
              </a:rPr>
              <a:t>Hourly readings, outage events, approvals and reports can become separated across people and files.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658368" y="2459736"/>
            <a:ext cx="438912" cy="438912"/>
          </a:xfrm>
          <a:prstGeom prst="ellipse">
            <a:avLst/>
          </a:prstGeom>
          <a:solidFill>
            <a:srgbClr val="E6B21A"/>
          </a:solidFill>
          <a:ln w="12700">
            <a:solidFill>
              <a:srgbClr val="E6B21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04088" y="256946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234440" y="24505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61A33"/>
                </a:solidFill>
              </a:rPr>
              <a:t>Slow operational handoffs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2971800" y="2450592"/>
            <a:ext cx="329184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3243A"/>
                </a:solidFill>
              </a:rPr>
              <a:t>Fault, switching and maintenance information needs structured routing between responsible authorities.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658368" y="3291840"/>
            <a:ext cx="438912" cy="438912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04088" y="340156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234440" y="32826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61A33"/>
                </a:solidFill>
              </a:rPr>
              <a:t>Manual reconciliation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2971800" y="3282696"/>
            <a:ext cx="329184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3243A"/>
                </a:solidFill>
              </a:rPr>
              <a:t>33 kV, 11 kV, TMO, energy, forecast and reporting data require repeat handling when sources are disconnected.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658368" y="4123944"/>
            <a:ext cx="438912" cy="438912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704088" y="42336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234440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61A33"/>
                </a:solidFill>
              </a:rPr>
              <a:t>Limited traceability</a:t>
            </a:r>
            <a:endParaRPr lang="en-US" sz="1220" dirty="0"/>
          </a:p>
        </p:txBody>
      </p:sp>
      <p:sp>
        <p:nvSpPr>
          <p:cNvPr id="23" name="Text 20"/>
          <p:cNvSpPr/>
          <p:nvPr/>
        </p:nvSpPr>
        <p:spPr>
          <a:xfrm>
            <a:off x="2971800" y="4114800"/>
            <a:ext cx="329184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3243A"/>
                </a:solidFill>
              </a:rPr>
              <a:t>Without a central record, management has less visibility into who submitted, approved, received, closed or restored an action.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658368" y="4956048"/>
            <a:ext cx="438912" cy="438912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704088" y="506577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234440" y="49469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61A33"/>
                </a:solidFill>
              </a:rPr>
              <a:t>Data continuity risk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2971800" y="4946904"/>
            <a:ext cx="329184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3243A"/>
                </a:solidFill>
              </a:rPr>
              <a:t>Operational history and evidence need durable secure data repository, backup, snapshots and retrieval paths.</a:t>
            </a:r>
            <a:endParaRPr lang="en-US" sz="9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none"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r>
              <a:rPr sz="850">
                <a:solidFill>
                  <a:srgbClr val="5A6E87"/>
                </a:solidFill>
                <a:latin typeface="Aptos"/>
              </a:rPr>
              <a:t>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PLATFORM ARCHITECTURE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sz="830" b="1">
                <a:solidFill>
                  <a:srgbClr val="00A88F"/>
                </a:solidFill>
              </a:rPr>
              <a:t>SECURE · MODULAR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connected operating stack—from field action to executive intelligence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20">
                <a:solidFill>
                  <a:srgbClr val="61758E"/>
                </a:solidFill>
              </a:rPr>
              <a:t>Backend services route authentication, operational tables, files, synchronization and historical records within a controlled KEDCO environment.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58368" y="1664208"/>
            <a:ext cx="1965960" cy="3493008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664208"/>
            <a:ext cx="1965960" cy="109728"/>
          </a:xfrm>
          <a:prstGeom prst="rect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04672" y="1920240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1A33"/>
                </a:solidFill>
              </a:rPr>
              <a:t>Operational users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1655064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Dispatch &amp; operators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RE / TE &amp; regions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PC&amp;M · O&amp;M · P&amp;I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HSE · Stores · Contractors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2670048" y="2971800"/>
            <a:ext cx="411480" cy="548640"/>
          </a:xfrm>
          <a:prstGeom prst="chevron">
            <a:avLst/>
          </a:prstGeom>
          <a:solidFill>
            <a:srgbClr val="C8D8E9"/>
          </a:solidFill>
          <a:ln w="12700">
            <a:solidFill>
              <a:srgbClr val="C8D8E9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743200" y="1664208"/>
            <a:ext cx="1965960" cy="3493008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743200" y="1664208"/>
            <a:ext cx="1965960" cy="10972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889504" y="1920240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1A33"/>
                </a:solidFill>
              </a:rPr>
              <a:t>Application layer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07792" y="2514600"/>
            <a:ext cx="1655064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37 HTML pages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Role-aware dashboards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Digital eForms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Network maps &amp; analytics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4754880" y="2971800"/>
            <a:ext cx="411480" cy="548640"/>
          </a:xfrm>
          <a:prstGeom prst="chevron">
            <a:avLst/>
          </a:prstGeom>
          <a:solidFill>
            <a:srgbClr val="C8D8E9"/>
          </a:solidFill>
          <a:ln w="12700">
            <a:solidFill>
              <a:srgbClr val="C8D8E9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828032" y="1664208"/>
            <a:ext cx="1965960" cy="3493008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828032" y="1664208"/>
            <a:ext cx="1965960" cy="109728"/>
          </a:xfrm>
          <a:prstGeom prst="rect">
            <a:avLst/>
          </a:prstGeom>
          <a:solidFill>
            <a:srgbClr val="00A88F"/>
          </a:solidFill>
          <a:ln w="12700">
            <a:solidFill>
              <a:srgbClr val="00A88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74336" y="1920240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1A33"/>
                </a:solidFill>
              </a:rPr>
              <a:t>Automation services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92624" y="2514600"/>
            <a:ext cx="1655064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Routing &amp; approvals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Load-flow synchronization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Analyzer &amp; TMO logic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Reporting / export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839712" y="2971800"/>
            <a:ext cx="411480" cy="548640"/>
          </a:xfrm>
          <a:prstGeom prst="chevron">
            <a:avLst/>
          </a:prstGeom>
          <a:solidFill>
            <a:srgbClr val="C8D8E9"/>
          </a:solidFill>
          <a:ln w="12700">
            <a:solidFill>
              <a:srgbClr val="C8D8E9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912864" y="1664208"/>
            <a:ext cx="1965960" cy="3493008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912864" y="1664208"/>
            <a:ext cx="1965960" cy="109728"/>
          </a:xfrm>
          <a:prstGeom prst="rect">
            <a:avLst/>
          </a:prstGeom>
          <a:solidFill>
            <a:srgbClr val="E6B21A"/>
          </a:solidFill>
          <a:ln w="12700">
            <a:solidFill>
              <a:srgbClr val="E6B21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059168" y="1920240"/>
            <a:ext cx="1673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500" b="1">
                <a:solidFill>
                  <a:srgbClr val="061A33"/>
                </a:solidFill>
              </a:rPr>
              <a:t>Data services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77456" y="2514600"/>
            <a:ext cx="1655064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sz="1030">
                <a:solidFill>
                  <a:srgbClr val="13243A"/>
                </a:solidFill>
              </a:rPr>
              <a:t>Application backend</a:t>
            </a:r>
            <a:endParaRPr lang="en-US" sz="1030" dirty="0"/>
          </a:p>
          <a:p>
            <a:r>
              <a:rPr sz="1030">
                <a:solidFill>
                  <a:srgbClr val="13243A"/>
                </a:solidFill>
              </a:rPr>
              <a:t>Operational tables</a:t>
            </a:r>
          </a:p>
          <a:p>
            <a:r>
              <a:rPr sz="1030">
                <a:solidFill>
                  <a:srgbClr val="13243A"/>
                </a:solidFill>
              </a:rPr>
              <a:t>Files &amp; evidence</a:t>
            </a:r>
          </a:p>
          <a:p>
            <a:r>
              <a:rPr sz="1030">
                <a:solidFill>
                  <a:srgbClr val="13243A"/>
                </a:solidFill>
              </a:rPr>
              <a:t>Snapshots / backups</a:t>
            </a:r>
          </a:p>
        </p:txBody>
      </p:sp>
      <p:sp>
        <p:nvSpPr>
          <p:cNvPr id="25" name="Shape 23"/>
          <p:cNvSpPr/>
          <p:nvPr/>
        </p:nvSpPr>
        <p:spPr>
          <a:xfrm>
            <a:off x="8924544" y="2971800"/>
            <a:ext cx="411480" cy="548640"/>
          </a:xfrm>
          <a:prstGeom prst="chevron">
            <a:avLst/>
          </a:prstGeom>
          <a:solidFill>
            <a:srgbClr val="C8D8E9"/>
          </a:solidFill>
          <a:ln w="12700">
            <a:solidFill>
              <a:srgbClr val="C8D8E9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997696" y="1664208"/>
            <a:ext cx="2542032" cy="3493008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997696" y="1664208"/>
            <a:ext cx="2542032" cy="109728"/>
          </a:xfrm>
          <a:prstGeom prst="rect">
            <a:avLst/>
          </a:prstGeom>
          <a:solidFill>
            <a:srgbClr val="2EAD66"/>
          </a:solidFill>
          <a:ln w="12700">
            <a:solidFill>
              <a:srgbClr val="2EAD6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144000" y="1920240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1A33"/>
                </a:solidFill>
              </a:rPr>
              <a:t>Management layer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62288" y="2514600"/>
            <a:ext cx="2231136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Executive dashboards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Performance intelligence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Audit &amp; accountability</a:t>
            </a:r>
            <a:endParaRPr lang="en-US" sz="1030" dirty="0"/>
          </a:p>
          <a:p>
            <a:pPr marL="177800" indent="-177800">
              <a:buSzPct val="100000"/>
              <a:buChar char="•"/>
            </a:pPr>
            <a:r>
              <a:rPr lang="en-US" sz="1030" dirty="0">
                <a:solidFill>
                  <a:srgbClr val="13243A"/>
                </a:solidFill>
              </a:rPr>
              <a:t>Historical retrieval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658368" y="5413248"/>
            <a:ext cx="10881360" cy="566928"/>
          </a:xfrm>
          <a:prstGeom prst="roundRect">
            <a:avLst/>
          </a:prstGeom>
          <a:solidFill>
            <a:srgbClr val="EDF5FC"/>
          </a:solidFill>
          <a:ln w="12700">
            <a:solidFill>
              <a:srgbClr val="C8DDE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96112" y="5596128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100" b="1">
                <a:solidFill>
                  <a:srgbClr val="0F5DA8"/>
                </a:solidFill>
              </a:rPr>
              <a:t>Design principle: preserve operational continuity while keeping the platform compatible with future hosting, telemetry and enterprise integrations.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680" i="1">
                <a:solidFill>
                  <a:srgbClr val="7C8B9A"/>
                </a:solidFill>
              </a:rPr>
              <a:t>Source: backend/frontend code, application archive and integration verification reports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none"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r>
              <a:rPr sz="850">
                <a:solidFill>
                  <a:srgbClr val="5A6E87"/>
                </a:solidFill>
                <a:latin typeface="Aptos"/>
              </a:rPr>
              <a:t>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ENTERPRISE MODULE LANDSCAPE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CROSS-DIRECTORATE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platform spanning core technical operations and supporting functions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 archive contains dedicated interfaces for central control, technical departments, regional teams, data functions and executive management.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roundRect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04672" y="188366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80160" y="177393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System Operations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80160" y="212140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Dispatch · Operator · Head SO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474720" y="162763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02736" y="1792224"/>
            <a:ext cx="384048" cy="384048"/>
          </a:xfrm>
          <a:prstGeom prst="roundRect">
            <a:avLst/>
          </a:prstGeom>
          <a:solidFill>
            <a:srgbClr val="00A88F"/>
          </a:solidFill>
          <a:ln w="12700">
            <a:solidFill>
              <a:srgbClr val="00A88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21024" y="188366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96512" y="177393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TMO &amp; Analyzer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096512" y="212140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Energy · Forecast · Feeder KPI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291072" y="162763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19088" y="1792224"/>
            <a:ext cx="384048" cy="384048"/>
          </a:xfrm>
          <a:prstGeom prst="round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37376" y="188366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12864" y="177393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O&amp;M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912864" y="212140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RE/TE · Fitters · Jointers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107424" y="162763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235440" y="1792224"/>
            <a:ext cx="384048" cy="384048"/>
          </a:xfrm>
          <a:prstGeom prst="roundRect">
            <a:avLst/>
          </a:prstGeom>
          <a:solidFill>
            <a:srgbClr val="E6B21A"/>
          </a:solidFill>
          <a:ln w="12700">
            <a:solidFill>
              <a:srgbClr val="E6B21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253728" y="188366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729216" y="177393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PC&amp;M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729216" y="212140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Protection · Control · Metering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58368" y="295351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86384" y="3118104"/>
            <a:ext cx="384048" cy="384048"/>
          </a:xfrm>
          <a:prstGeom prst="roundRect">
            <a:avLst/>
          </a:prstGeom>
          <a:solidFill>
            <a:srgbClr val="2EAD66"/>
          </a:solidFill>
          <a:ln w="12700">
            <a:solidFill>
              <a:srgbClr val="2EAD66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04672" y="320954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280160" y="309981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Planning &amp; Investment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280160" y="344728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Projects · Network planning · QA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474720" y="295351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3602736" y="3118104"/>
            <a:ext cx="384048" cy="384048"/>
          </a:xfrm>
          <a:prstGeom prst="roundRect">
            <a:avLst/>
          </a:prstGeom>
          <a:solidFill>
            <a:srgbClr val="D84B4B"/>
          </a:solidFill>
          <a:ln w="12700">
            <a:solidFill>
              <a:srgbClr val="D84B4B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621024" y="320954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096512" y="309981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HSE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096512" y="344728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Incidents · actions · assurance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6291072" y="295351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419088" y="3118104"/>
            <a:ext cx="384048" cy="384048"/>
          </a:xfrm>
          <a:prstGeom prst="roundRect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437376" y="320954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07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912864" y="309981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MIS &amp; Data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912864" y="344728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Daily automation · cleaning · quality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9107424" y="295351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235440" y="3118104"/>
            <a:ext cx="384048" cy="384048"/>
          </a:xfrm>
          <a:prstGeom prst="roundRect">
            <a:avLst/>
          </a:prstGeom>
          <a:solidFill>
            <a:srgbClr val="00A88F"/>
          </a:solidFill>
          <a:ln w="12700">
            <a:solidFill>
              <a:srgbClr val="00A88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9253728" y="320954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08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729216" y="309981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Stores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729216" y="344728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Inventory · requests · audit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658368" y="427939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86384" y="4443984"/>
            <a:ext cx="384048" cy="384048"/>
          </a:xfrm>
          <a:prstGeom prst="roundRect">
            <a:avLst/>
          </a:prstGeom>
          <a:solidFill>
            <a:srgbClr val="E6B21A"/>
          </a:solidFill>
          <a:ln w="12700">
            <a:solidFill>
              <a:srgbClr val="E6B21A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804672" y="453542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09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280160" y="442569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Contractors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280160" y="477316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Delivery · safety · QA/QC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3474720" y="427939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3602736" y="4443984"/>
            <a:ext cx="384048" cy="384048"/>
          </a:xfrm>
          <a:prstGeom prst="roundRect">
            <a:avLst/>
          </a:prstGeom>
          <a:solidFill>
            <a:srgbClr val="2EAD66"/>
          </a:solidFill>
          <a:ln w="12700">
            <a:solidFill>
              <a:srgbClr val="2EAD66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621024" y="453542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096512" y="442569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Executive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4096512" y="477316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CTO · Technical Administration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6291072" y="427939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419088" y="4443984"/>
            <a:ext cx="384048" cy="384048"/>
          </a:xfrm>
          <a:prstGeom prst="round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437376" y="453542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11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912864" y="442569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Transmission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6912864" y="477316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132/33 kV operations &amp; guarantees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9107424" y="4279392"/>
            <a:ext cx="254203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9235440" y="4443984"/>
            <a:ext cx="384048" cy="384048"/>
          </a:xfrm>
          <a:prstGeom prst="roundRect">
            <a:avLst/>
          </a:prstGeom>
          <a:solidFill>
            <a:srgbClr val="0B2D57"/>
          </a:solidFill>
          <a:ln w="12700">
            <a:solidFill>
              <a:srgbClr val="0B2D57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9253728" y="453542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12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729216" y="442569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Developer/Admin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9729216" y="477316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58E"/>
                </a:solidFill>
              </a:rPr>
              <a:t>Users · roles · responsibility master</a:t>
            </a:r>
            <a:endParaRPr lang="en-US" sz="880" dirty="0"/>
          </a:p>
        </p:txBody>
      </p:sp>
      <p:sp>
        <p:nvSpPr>
          <p:cNvPr id="66" name="Text 64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frontend/pages module inventory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none"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r>
              <a:rPr sz="850">
                <a:solidFill>
                  <a:srgbClr val="5A6E87"/>
                </a:solidFill>
                <a:latin typeface="Aptos"/>
              </a:rPr>
              <a:t>6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SYSTEM OPERATIONS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CENTRAL DISPATCH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Central Dispatch becomes a live operational control surface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 Dispatch page combines 33/11 kV operating context, network master data, feeder control, outage actions, network mapping and role-aware workflows.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12648" y="1508760"/>
            <a:ext cx="7022592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E6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7" name="Image 0" descr="/mnt/data/kedco_ui/dispatch.png">    </p:cNvPr>
          <p:cNvPicPr>
            <a:picLocks noChangeAspect="1"/>
          </p:cNvPicPr>
          <p:nvPr/>
        </p:nvPicPr>
        <p:blipFill>
          <a:blip r:embed="rId1"/>
          <a:srcRect l="1160" r="1160" t="0" b="0"/>
          <a:stretch/>
        </p:blipFill>
        <p:spPr>
          <a:xfrm>
            <a:off x="658368" y="1554480"/>
            <a:ext cx="6931152" cy="4434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82128" y="1572768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156448" y="184708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33"/>
                </a:solidFill>
              </a:rPr>
              <a:t>Operational capabilities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56448" y="2331720"/>
            <a:ext cx="2971800" cy="3063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None/>
            </a:pPr>
            <a:r>
              <a:rPr sz="1050">
                <a:solidFill>
                  <a:srgbClr val="13243A"/>
                </a:solidFill>
              </a:rPr>
              <a:t>• Central Dispatch dashboard with operating status and control-room context</a:t>
            </a:r>
            <a:endParaRPr lang="en-US" sz="1050" dirty="0"/>
          </a:p>
          <a:p>
            <a:pPr>
              <a:buNone/>
            </a:pPr>
            <a:r>
              <a:rPr sz="1050">
                <a:solidFill>
                  <a:srgbClr val="13243A"/>
                </a:solidFill>
              </a:rPr>
              <a:t>• 33 kV / 11 kV hourly load-flow entry, history and feeder-state tracking</a:t>
            </a:r>
          </a:p>
          <a:p>
            <a:pPr>
              <a:buNone/>
            </a:pPr>
            <a:r>
              <a:rPr sz="1050">
                <a:solidFill>
                  <a:srgbClr val="13243A"/>
                </a:solidFill>
              </a:rPr>
              <a:t>• Network master register and selected electrical path</a:t>
            </a:r>
          </a:p>
          <a:p>
            <a:pPr>
              <a:buNone/>
            </a:pPr>
            <a:r>
              <a:rPr sz="1050">
                <a:solidFill>
                  <a:srgbClr val="13243A"/>
                </a:solidFill>
              </a:rPr>
              <a:t>• Fault, outage, breaker, switching and restoration operations</a:t>
            </a:r>
          </a:p>
          <a:p>
            <a:pPr>
              <a:buNone/>
            </a:pPr>
            <a:r>
              <a:rPr sz="1050">
                <a:solidFill>
                  <a:srgbClr val="13243A"/>
                </a:solidFill>
              </a:rPr>
              <a:t>• Interactive network map and role-aware operational workflows</a:t>
            </a:r>
          </a:p>
        </p:txBody>
      </p:sp>
      <p:sp>
        <p:nvSpPr>
          <p:cNvPr id="11" name="Text 8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680" i="1">
                <a:solidFill>
                  <a:srgbClr val="7C8B9A"/>
                </a:solidFill>
              </a:rPr>
              <a:t>Source: dispatch.html + application integration verification report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none"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r>
              <a:rPr sz="850">
                <a:solidFill>
                  <a:srgbClr val="5A6E87"/>
                </a:solidFill>
                <a:latin typeface="Aptos"/>
              </a:rPr>
              <a:t>7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sz="830" b="1">
                <a:solidFill>
                  <a:srgbClr val="0F5DA8"/>
                </a:solidFill>
              </a:rPr>
              <a:t>LOAD-FLOW &amp; FEEDER PERFORMANCE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sz="830" b="1">
                <a:solidFill>
                  <a:srgbClr val="00A88F"/>
                </a:solidFill>
              </a:rPr>
              <a:t>ACTUAL SYSTEM EVIDENCE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500" b="1">
                <a:solidFill>
                  <a:srgbClr val="061A33"/>
                </a:solidFill>
                <a:latin typeface="Aptos Display"/>
              </a:rPr>
              <a:t>33 kV / 11 kV operational data becomes feeder performance intelligence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20">
                <a:solidFill>
                  <a:srgbClr val="61758E"/>
                </a:solidFill>
              </a:rPr>
              <a:t>Both voltage levels are structured by station, region, feeder, date, hour, shift and status, then used for monthly KPI analysis and reporting.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58368" y="1572768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1828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33"/>
                </a:solidFill>
              </a:rPr>
              <a:t>Persisted record volume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43A"/>
                </a:solidFill>
              </a:rPr>
              <a:t>33 kV records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2651760"/>
            <a:ext cx="4297680" cy="347472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2651760"/>
            <a:ext cx="3431783" cy="347472"/>
          </a:xfrm>
          <a:prstGeom prst="roundRect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83480" y="258775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61A33"/>
                </a:solidFill>
              </a:rPr>
              <a:t>39,926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520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243A"/>
                </a:solidFill>
              </a:rPr>
              <a:t>11 kV records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3886200"/>
            <a:ext cx="4297680" cy="347472"/>
          </a:xfrm>
          <a:prstGeom prst="roundRect">
            <a:avLst/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14400" y="3886200"/>
            <a:ext cx="4174766" cy="347472"/>
          </a:xfrm>
          <a:prstGeom prst="roundRect">
            <a:avLst/>
          </a:prstGeom>
          <a:solidFill>
            <a:srgbClr val="00A88F"/>
          </a:solidFill>
          <a:ln w="12700">
            <a:solidFill>
              <a:srgbClr val="00A88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83480" y="382219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61A33"/>
                </a:solidFill>
              </a:rPr>
              <a:t>48,570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983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1A33"/>
                </a:solidFill>
              </a:rPr>
              <a:t>Coverage inside this archive sample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533095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1758E"/>
                </a:solidFill>
              </a:rPr>
              <a:t>8 persisted dates · 81 unique 33 kV feeder names · 145 unique 11 kV feeder names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55664" y="1572768"/>
            <a:ext cx="5084064" cy="4434840"/>
          </a:xfrm>
          <a:prstGeom prst="roundRect">
            <a:avLst>
              <a:gd name="adj" fmla="val 1649"/>
            </a:avLst>
          </a:prstGeom>
          <a:solidFill>
            <a:srgbClr val="F8FBFE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748272" y="18288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600" b="1">
                <a:solidFill>
                  <a:srgbClr val="061A33"/>
                </a:solidFill>
              </a:rPr>
              <a:t>Operational &amp; analytical value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2331720"/>
            <a:ext cx="4251960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None/>
            </a:pPr>
            <a:r>
              <a:rPr sz="1200">
                <a:solidFill>
                  <a:srgbClr val="13243A"/>
                </a:solidFill>
              </a:rPr>
              <a:t>• Hourly 33 kV and 11 kV records support live and historical review</a:t>
            </a:r>
            <a:endParaRPr lang="en-US" sz="1200" dirty="0"/>
          </a:p>
          <a:p>
            <a:pPr>
              <a:buNone/>
            </a:pPr>
            <a:r>
              <a:rPr sz="1200">
                <a:solidFill>
                  <a:srgbClr val="13243A"/>
                </a:solidFill>
              </a:rPr>
              <a:t>• Analyzer classifies active, load-shedding, fault and planned-outage hours</a:t>
            </a:r>
          </a:p>
          <a:p>
            <a:pPr>
              <a:buNone/>
            </a:pPr>
            <a:r>
              <a:rPr sz="1200">
                <a:solidFill>
                  <a:srgbClr val="13243A"/>
                </a:solidFill>
              </a:rPr>
              <a:t>• Monthly KPI, daily average hours, energy and feeder performance are calculated from source data</a:t>
            </a:r>
          </a:p>
          <a:p>
            <a:pPr>
              <a:buNone/>
            </a:pPr>
            <a:r>
              <a:rPr sz="1200">
                <a:solidFill>
                  <a:srgbClr val="13243A"/>
                </a:solidFill>
              </a:rPr>
              <a:t>• Results can be archived, filtered and exported for management reporting</a:t>
            </a:r>
          </a:p>
        </p:txBody>
      </p:sp>
      <p:sp>
        <p:nvSpPr>
          <p:cNvPr id="21" name="Shape 19"/>
          <p:cNvSpPr/>
          <p:nvPr/>
        </p:nvSpPr>
        <p:spPr>
          <a:xfrm>
            <a:off x="6766560" y="5074920"/>
            <a:ext cx="4224528" cy="566928"/>
          </a:xfrm>
          <a:prstGeom prst="roundRect">
            <a:avLst/>
          </a:prstGeom>
          <a:solidFill>
            <a:srgbClr val="E5F8F4"/>
          </a:solidFill>
          <a:ln w="12700">
            <a:solidFill>
              <a:srgbClr val="B8E4D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004304" y="52578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020" b="1">
                <a:solidFill>
                  <a:srgbClr val="087864"/>
                </a:solidFill>
              </a:rPr>
              <a:t>Verified batch save/read and historical retrieval for both voltage levels.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680" i="1">
                <a:solidFill>
                  <a:srgbClr val="7C8B9A"/>
                </a:solidFill>
              </a:rPr>
              <a:t>Source: persisted load-flow records + Analyzer code + integration verification report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none"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r>
              <a:rPr sz="850">
                <a:solidFill>
                  <a:srgbClr val="5A6E87"/>
                </a:solidFill>
                <a:latin typeface="Aptos"/>
              </a:rPr>
              <a:t>8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DAILY FEEDER OPERATION &amp; OUTAGE MANAGEMENT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CONTROLLED LIFECYCLE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 are managed as a lifecycle—not isolated entries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 Daily Log enforces operational categories, planned duration where required, duplicate-open protection and exact feeder restoration.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1664208" cy="324612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2075688"/>
            <a:ext cx="438912" cy="438912"/>
          </a:xfrm>
          <a:prstGeom prst="ellipse">
            <a:avLst/>
          </a:prstGeom>
          <a:solidFill>
            <a:srgbClr val="D84B4B"/>
          </a:solidFill>
          <a:ln w="12700">
            <a:solidFill>
              <a:srgbClr val="D84B4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1854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1A33"/>
                </a:solidFill>
              </a:rPr>
              <a:t>Detect / instruct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310128"/>
            <a:ext cx="13258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43A"/>
                </a:solidFill>
              </a:rPr>
              <a:t>Fault, load shedding, breaker, emergency or planned outage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286000" y="2926080"/>
            <a:ext cx="301752" cy="502920"/>
          </a:xfrm>
          <a:prstGeom prst="chevron">
            <a:avLst/>
          </a:prstGeom>
          <a:solidFill>
            <a:srgbClr val="BDD1E4"/>
          </a:solidFill>
          <a:ln w="12700">
            <a:solidFill>
              <a:srgbClr val="BDD1E4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532888" y="1874520"/>
            <a:ext cx="1664208" cy="3246120"/>
          </a:xfrm>
          <a:prstGeom prst="roundRect">
            <a:avLst>
              <a:gd name="adj" fmla="val 4396"/>
            </a:avLst>
          </a:prstGeom>
          <a:solidFill>
            <a:srgbClr val="F8FBFE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697480" y="2075688"/>
            <a:ext cx="438912" cy="438912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743200" y="21854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1A33"/>
                </a:solidFill>
              </a:rPr>
              <a:t>Open event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7480" y="3310128"/>
            <a:ext cx="13258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43A"/>
                </a:solidFill>
              </a:rPr>
              <a:t>Record feeder, source, reason, time, load lost and planned duration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160520" y="2926080"/>
            <a:ext cx="301752" cy="502920"/>
          </a:xfrm>
          <a:prstGeom prst="chevron">
            <a:avLst/>
          </a:prstGeom>
          <a:solidFill>
            <a:srgbClr val="BDD1E4"/>
          </a:solidFill>
          <a:ln w="12700">
            <a:solidFill>
              <a:srgbClr val="BDD1E4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407408" y="1874520"/>
            <a:ext cx="1664208" cy="324612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0" y="2075688"/>
            <a:ext cx="438912" cy="438912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617720" y="21854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1A33"/>
                </a:solidFill>
              </a:rPr>
              <a:t>Route / coordinate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3310128"/>
            <a:ext cx="13258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43A"/>
                </a:solidFill>
              </a:rPr>
              <a:t>Share operational record with responsible control or technical authority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035040" y="2926080"/>
            <a:ext cx="301752" cy="502920"/>
          </a:xfrm>
          <a:prstGeom prst="chevron">
            <a:avLst/>
          </a:prstGeom>
          <a:solidFill>
            <a:srgbClr val="BDD1E4"/>
          </a:solidFill>
          <a:ln w="12700">
            <a:solidFill>
              <a:srgbClr val="BDD1E4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281928" y="1874520"/>
            <a:ext cx="1664208" cy="3246120"/>
          </a:xfrm>
          <a:prstGeom prst="roundRect">
            <a:avLst>
              <a:gd name="adj" fmla="val 4396"/>
            </a:avLst>
          </a:prstGeom>
          <a:solidFill>
            <a:srgbClr val="F8FBFE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46520" y="2075688"/>
            <a:ext cx="438912" cy="438912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92240" y="21854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1A33"/>
                </a:solidFill>
              </a:rPr>
              <a:t>Monitor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3310128"/>
            <a:ext cx="13258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43A"/>
                </a:solidFill>
              </a:rPr>
              <a:t>Maintain live state and operational history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7909560" y="2926080"/>
            <a:ext cx="301752" cy="502920"/>
          </a:xfrm>
          <a:prstGeom prst="chevron">
            <a:avLst/>
          </a:prstGeom>
          <a:solidFill>
            <a:srgbClr val="BDD1E4"/>
          </a:solidFill>
          <a:ln w="12700">
            <a:solidFill>
              <a:srgbClr val="BDD1E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156448" y="1874520"/>
            <a:ext cx="1664208" cy="324612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321040" y="2075688"/>
            <a:ext cx="438912" cy="438912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366760" y="21854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21040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1A33"/>
                </a:solidFill>
              </a:rPr>
              <a:t>Restore / close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3310128"/>
            <a:ext cx="13258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43A"/>
                </a:solidFill>
              </a:rPr>
              <a:t>Close the exact matching record and return to live operating time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9784080" y="2926080"/>
            <a:ext cx="301752" cy="502920"/>
          </a:xfrm>
          <a:prstGeom prst="chevron">
            <a:avLst/>
          </a:prstGeom>
          <a:solidFill>
            <a:srgbClr val="BDD1E4"/>
          </a:solidFill>
          <a:ln w="12700">
            <a:solidFill>
              <a:srgbClr val="BDD1E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030968" y="1874520"/>
            <a:ext cx="1664208" cy="3246120"/>
          </a:xfrm>
          <a:prstGeom prst="roundRect">
            <a:avLst>
              <a:gd name="adj" fmla="val 4396"/>
            </a:avLst>
          </a:prstGeom>
          <a:solidFill>
            <a:srgbClr val="F8FBFE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195560" y="2075688"/>
            <a:ext cx="438912" cy="438912"/>
          </a:xfrm>
          <a:prstGeom prst="ellipse">
            <a:avLst/>
          </a:prstGeom>
          <a:solidFill>
            <a:srgbClr val="2EAD66"/>
          </a:solidFill>
          <a:ln w="12700">
            <a:solidFill>
              <a:srgbClr val="2EAD6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0241280" y="218541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195560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61A33"/>
                </a:solidFill>
              </a:rPr>
              <a:t>Audit / report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195560" y="3310128"/>
            <a:ext cx="13258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43A"/>
                </a:solidFill>
              </a:rPr>
              <a:t>Retain event history for management and future analysis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685800" y="5440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1A33"/>
                </a:solidFill>
              </a:rPr>
              <a:t>Current archive: 39 persisted Daily Log events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0" y="5422392"/>
            <a:ext cx="1737360" cy="25603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Load shedding · 20</a:t>
            </a:r>
            <a:endParaRPr lang="en-US" sz="830" dirty="0"/>
          </a:p>
        </p:txBody>
      </p:sp>
      <p:sp>
        <p:nvSpPr>
          <p:cNvPr id="43" name="Text 41"/>
          <p:cNvSpPr/>
          <p:nvPr/>
        </p:nvSpPr>
        <p:spPr>
          <a:xfrm>
            <a:off x="5532120" y="5422392"/>
            <a:ext cx="1737360" cy="25603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E6B21A"/>
                </a:solidFill>
              </a:rPr>
              <a:t>Planned outage · 9</a:t>
            </a:r>
            <a:endParaRPr lang="en-US" sz="830" dirty="0"/>
          </a:p>
        </p:txBody>
      </p:sp>
      <p:sp>
        <p:nvSpPr>
          <p:cNvPr id="44" name="Text 42"/>
          <p:cNvSpPr/>
          <p:nvPr/>
        </p:nvSpPr>
        <p:spPr>
          <a:xfrm>
            <a:off x="7406640" y="5422392"/>
            <a:ext cx="1737360" cy="25603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D84B4B"/>
                </a:solidFill>
              </a:rPr>
              <a:t>Fault · 9</a:t>
            </a:r>
            <a:endParaRPr lang="en-US" sz="830" dirty="0"/>
          </a:p>
        </p:txBody>
      </p:sp>
      <p:sp>
        <p:nvSpPr>
          <p:cNvPr id="45" name="Text 43"/>
          <p:cNvSpPr/>
          <p:nvPr/>
        </p:nvSpPr>
        <p:spPr>
          <a:xfrm>
            <a:off x="9281160" y="5422392"/>
            <a:ext cx="1737360" cy="256032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Breaker fault · 1</a:t>
            </a:r>
            <a:endParaRPr lang="en-US" sz="830" dirty="0"/>
          </a:p>
        </p:txBody>
      </p:sp>
      <p:sp>
        <p:nvSpPr>
          <p:cNvPr id="46" name="Text 44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daily-log records + integration verification report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none"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r>
              <a:rPr sz="850">
                <a:solidFill>
                  <a:srgbClr val="5A6E87"/>
                </a:solidFill>
                <a:latin typeface="Aptos"/>
              </a:rPr>
              <a:t>9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TMO INTELLIGENCE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ENERGY · MARKET · PERFORMANCE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TMO turns technical and commercial inputs into management intelligence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The TMO Intelligence Centre includes load, frequency, energy allocation, forecast, feeder availability, compliance, billing exposure and monthly/yearly views.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12648" y="1527048"/>
            <a:ext cx="6748272" cy="44622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E6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7" name="Image 0" descr="/mnt/data/kedco_ui/tmo.png">    </p:cNvPr>
          <p:cNvPicPr>
            <a:picLocks noChangeAspect="1"/>
          </p:cNvPicPr>
          <p:nvPr/>
        </p:nvPicPr>
        <p:blipFill>
          <a:blip r:embed="rId1"/>
          <a:srcRect l="2406" r="2406" t="0" b="0"/>
          <a:stretch/>
        </p:blipFill>
        <p:spPr>
          <a:xfrm>
            <a:off x="658368" y="1572768"/>
            <a:ext cx="6656832" cy="43708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35240" y="1618488"/>
            <a:ext cx="3840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836408" y="17282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61A33"/>
                </a:solidFill>
              </a:rPr>
              <a:t>System load &amp; frequency</a:t>
            </a:r>
            <a:endParaRPr lang="en-US" sz="940" dirty="0"/>
          </a:p>
        </p:txBody>
      </p:sp>
      <p:sp>
        <p:nvSpPr>
          <p:cNvPr id="10" name="Text 7"/>
          <p:cNvSpPr/>
          <p:nvPr/>
        </p:nvSpPr>
        <p:spPr>
          <a:xfrm>
            <a:off x="9144000" y="17099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1758E"/>
                </a:solidFill>
              </a:rPr>
              <a:t>Real-time frequency · hourly KEDCO system load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7635240" y="2331720"/>
            <a:ext cx="3840480" cy="566928"/>
          </a:xfrm>
          <a:prstGeom prst="roundRect">
            <a:avLst/>
          </a:prstGeom>
          <a:solidFill>
            <a:srgbClr val="F5F9FD"/>
          </a:solidFill>
          <a:ln w="1270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836408" y="244144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61A33"/>
                </a:solidFill>
              </a:rPr>
              <a:t>Energy allocation</a:t>
            </a:r>
            <a:endParaRPr lang="en-US" sz="940" dirty="0"/>
          </a:p>
        </p:txBody>
      </p:sp>
      <p:sp>
        <p:nvSpPr>
          <p:cNvPr id="13" name="Text 10"/>
          <p:cNvSpPr/>
          <p:nvPr/>
        </p:nvSpPr>
        <p:spPr>
          <a:xfrm>
            <a:off x="9144000" y="24231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1758E"/>
                </a:solidFill>
              </a:rPr>
              <a:t>Daily energy vs allocation · premium allocation ratio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7635240" y="3044952"/>
            <a:ext cx="3840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836408" y="315468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61A33"/>
                </a:solidFill>
              </a:rPr>
              <a:t>Forecast performance</a:t>
            </a:r>
            <a:endParaRPr lang="en-US" sz="940" dirty="0"/>
          </a:p>
        </p:txBody>
      </p:sp>
      <p:sp>
        <p:nvSpPr>
          <p:cNvPr id="16" name="Text 13"/>
          <p:cNvSpPr/>
          <p:nvPr/>
        </p:nvSpPr>
        <p:spPr>
          <a:xfrm>
            <a:off x="9144000" y="31363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1758E"/>
                </a:solidFill>
              </a:rPr>
              <a:t>Monthly forecast vs actual · available generation allocation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7635240" y="3758184"/>
            <a:ext cx="3840480" cy="566928"/>
          </a:xfrm>
          <a:prstGeom prst="roundRect">
            <a:avLst/>
          </a:prstGeom>
          <a:solidFill>
            <a:srgbClr val="F5F9FD"/>
          </a:solidFill>
          <a:ln w="1270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836408" y="386791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61A33"/>
                </a:solidFill>
              </a:rPr>
              <a:t>Commercial intelligence</a:t>
            </a:r>
            <a:endParaRPr lang="en-US" sz="940" dirty="0"/>
          </a:p>
        </p:txBody>
      </p:sp>
      <p:sp>
        <p:nvSpPr>
          <p:cNvPr id="19" name="Text 16"/>
          <p:cNvSpPr/>
          <p:nvPr/>
        </p:nvSpPr>
        <p:spPr>
          <a:xfrm>
            <a:off x="9144000" y="384962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1758E"/>
                </a:solidFill>
              </a:rPr>
              <a:t>Revenue / billing / tariff inputs · collection and P&amp;L exposure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7635240" y="4471416"/>
            <a:ext cx="3840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7836408" y="45811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61A33"/>
                </a:solidFill>
              </a:rPr>
              <a:t>Compliance &amp; risk</a:t>
            </a:r>
            <a:endParaRPr lang="en-US" sz="940" dirty="0"/>
          </a:p>
        </p:txBody>
      </p:sp>
      <p:sp>
        <p:nvSpPr>
          <p:cNvPr id="22" name="Text 19"/>
          <p:cNvSpPr/>
          <p:nvPr/>
        </p:nvSpPr>
        <p:spPr>
          <a:xfrm>
            <a:off x="9144000" y="456285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1758E"/>
                </a:solidFill>
              </a:rPr>
              <a:t>Business-segment compliance · risk distribution · feeder criticality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7635240" y="5184648"/>
            <a:ext cx="3840480" cy="566928"/>
          </a:xfrm>
          <a:prstGeom prst="roundRect">
            <a:avLst/>
          </a:prstGeom>
          <a:solidFill>
            <a:srgbClr val="F5F9FD"/>
          </a:solidFill>
          <a:ln w="1270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836408" y="52943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061A33"/>
                </a:solidFill>
              </a:rPr>
              <a:t>Monthly / yearly view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9144000" y="52760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1758E"/>
                </a:solidFill>
              </a:rPr>
              <a:t>12-month trend · YTD scorecard · service compliance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tmo.html headings and data-hub configuration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none"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r>
              <a:rPr sz="850">
                <a:solidFill>
                  <a:srgbClr val="5A6E87"/>
                </a:solidFill>
                <a:latin typeface="Aptos"/>
              </a:rPr>
              <a:t>10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DIGITAL EFORMS &amp; WORKFLOW ROUTING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6 / 6 END-TO-END PASS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forms become governed digital workflows with evidence and routing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Six System Operations workflows were verified end to end, including required documents and generated route tasks.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58368" y="1664208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1819656"/>
            <a:ext cx="658368" cy="256032"/>
          </a:xfrm>
          <a:prstGeom prst="rect">
            <a:avLst/>
          </a:prstGeom>
          <a:solidFill>
            <a:srgbClr val="0F5DA8"/>
          </a:solidFill>
          <a:ln>
            <a:solidFill>
              <a:srgbClr val="0F5D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O.F.1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1618488" y="181965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61A33"/>
                </a:solidFill>
              </a:rPr>
              <a:t>Protection Guarantee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1618488" y="223113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1758E"/>
                </a:solidFill>
              </a:rPr>
              <a:t>2 docs  •  5 tasks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3355848" y="250545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AD66"/>
                </a:solidFill>
              </a:rPr>
              <a:t>PASS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34256" y="1664208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498848" y="1819656"/>
            <a:ext cx="658368" cy="256032"/>
          </a:xfrm>
          <a:prstGeom prst="rect">
            <a:avLst/>
          </a:prstGeom>
          <a:solidFill>
            <a:srgbClr val="0F5DA8"/>
          </a:solidFill>
          <a:ln>
            <a:solidFill>
              <a:srgbClr val="0F5D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O.F.2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5294376" y="181965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61A33"/>
                </a:solidFill>
              </a:rPr>
              <a:t>Work Permit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5294376" y="223113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1758E"/>
                </a:solidFill>
              </a:rPr>
              <a:t>2 docs  •  5 tasks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7031736" y="250545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AD66"/>
                </a:solidFill>
              </a:rPr>
              <a:t>PASS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10144" y="1664208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74736" y="1819656"/>
            <a:ext cx="658368" cy="256032"/>
          </a:xfrm>
          <a:prstGeom prst="rect">
            <a:avLst/>
          </a:prstGeom>
          <a:solidFill>
            <a:srgbClr val="0F5DA8"/>
          </a:solidFill>
          <a:ln>
            <a:solidFill>
              <a:srgbClr val="0F5D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O.F.3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8970264" y="181965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61A33"/>
                </a:solidFill>
              </a:rPr>
              <a:t>Work &amp; Test Permit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8970264" y="223113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1758E"/>
                </a:solidFill>
              </a:rPr>
              <a:t>2 docs  •  5 tasks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10707624" y="250545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AD66"/>
                </a:solidFill>
              </a:rPr>
              <a:t>PASS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58368" y="3108960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" y="3264408"/>
            <a:ext cx="658368" cy="256032"/>
          </a:xfrm>
          <a:prstGeom prst="rect">
            <a:avLst/>
          </a:prstGeom>
          <a:solidFill>
            <a:srgbClr val="0F5DA8"/>
          </a:solidFill>
          <a:ln>
            <a:solidFill>
              <a:srgbClr val="0F5D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O.F.4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1618488" y="32644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61A33"/>
                </a:solidFill>
              </a:rPr>
              <a:t>Station Guarantee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1618488" y="367588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1758E"/>
                </a:solidFill>
              </a:rPr>
              <a:t>1 doc  •  6 tasks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3355848" y="395020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AD66"/>
                </a:solidFill>
              </a:rPr>
              <a:t>PASS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34256" y="3108960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498848" y="3264408"/>
            <a:ext cx="658368" cy="256032"/>
          </a:xfrm>
          <a:prstGeom prst="rect">
            <a:avLst/>
          </a:prstGeom>
          <a:solidFill>
            <a:srgbClr val="0F5DA8"/>
          </a:solidFill>
          <a:ln>
            <a:solidFill>
              <a:srgbClr val="0F5D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O.F.17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5294376" y="32644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61A33"/>
                </a:solidFill>
              </a:rPr>
              <a:t>Order to Operate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5294376" y="367588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1758E"/>
                </a:solidFill>
              </a:rPr>
              <a:t>1 doc  •  4 tasks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7031736" y="395020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AD66"/>
                </a:solidFill>
              </a:rPr>
              <a:t>PASS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010144" y="3108960"/>
            <a:ext cx="3383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174736" y="3264408"/>
            <a:ext cx="658368" cy="256032"/>
          </a:xfrm>
          <a:prstGeom prst="rect">
            <a:avLst/>
          </a:prstGeom>
          <a:solidFill>
            <a:srgbClr val="0F5DA8"/>
          </a:solidFill>
          <a:ln>
            <a:solidFill>
              <a:srgbClr val="0F5DA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O.F.19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8970264" y="32644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61A33"/>
                </a:solidFill>
              </a:rPr>
              <a:t>Trouble &amp; Repair</a:t>
            </a:r>
            <a:endParaRPr lang="en-US" sz="1230" dirty="0"/>
          </a:p>
        </p:txBody>
      </p:sp>
      <p:sp>
        <p:nvSpPr>
          <p:cNvPr id="34" name="Text 32"/>
          <p:cNvSpPr/>
          <p:nvPr/>
        </p:nvSpPr>
        <p:spPr>
          <a:xfrm>
            <a:off x="8970264" y="367588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1758E"/>
                </a:solidFill>
              </a:rPr>
              <a:t>No mandatory  •  4 tasks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10707624" y="3950208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AD66"/>
                </a:solidFill>
              </a:rPr>
              <a:t>PASS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58368" y="4754880"/>
            <a:ext cx="10927080" cy="1005840"/>
          </a:xfrm>
          <a:prstGeom prst="roundRect">
            <a:avLst/>
          </a:prstGeom>
          <a:solidFill>
            <a:srgbClr val="EAF5FC"/>
          </a:solidFill>
          <a:ln w="12700">
            <a:solidFill>
              <a:srgbClr val="C6DFF2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77824" y="50017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F5DA8"/>
                </a:solidFill>
              </a:rPr>
              <a:t>Workflow pattern</a:t>
            </a:r>
            <a:endParaRPr lang="en-US" sz="1130" dirty="0"/>
          </a:p>
        </p:txBody>
      </p:sp>
      <p:sp>
        <p:nvSpPr>
          <p:cNvPr id="38" name="Text 36"/>
          <p:cNvSpPr/>
          <p:nvPr/>
        </p:nvSpPr>
        <p:spPr>
          <a:xfrm>
            <a:off x="2011680" y="4956048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1A33"/>
                </a:solidFill>
              </a:rPr>
              <a:t>Fill eForm  →  attach required evidence  →  send to defined authority  →  receive / review  →  feedback / approval  →  retained record &amp; audit trail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integration verification report + approved eForm templates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none"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r>
              <a:rPr sz="850">
                <a:solidFill>
                  <a:srgbClr val="5A6E87"/>
                </a:solidFill>
                <a:latin typeface="Aptos"/>
              </a:rPr>
              <a:t>11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sz="830" b="1">
                <a:solidFill>
                  <a:srgbClr val="0F5DA8"/>
                </a:solidFill>
              </a:rPr>
              <a:t>DEPARTMENTAL AUTOMATION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sz="830" b="1">
                <a:solidFill>
                  <a:srgbClr val="00A88F"/>
                </a:solidFill>
              </a:rPr>
              <a:t>FIELD → MANAGEMENT CONTROL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500" b="1">
                <a:solidFill>
                  <a:srgbClr val="061A33"/>
                </a:solidFill>
                <a:latin typeface="Aptos Display"/>
              </a:rPr>
              <a:t>Technical departments operate from dedicated dashboards, workflows and network-aware workspaces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20">
                <a:solidFill>
                  <a:srgbClr val="61758E"/>
                </a:solidFill>
              </a:rPr>
              <a:t>O&amp;M, PC&amp;M, P&amp;I, HSE, Stores, Contractors and MIS are connected through a common responsibility and reporting model.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035040" y="1490472"/>
            <a:ext cx="5532120" cy="2212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E6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7" name="Image 0" descr="/mnt/data/kedco_ui/headpcm.png">    </p:cNvPr>
          <p:cNvPicPr>
            <a:picLocks noChangeAspect="1"/>
          </p:cNvPicPr>
          <p:nvPr/>
        </p:nvPicPr>
        <p:blipFill>
          <a:blip r:embed="rId1"/>
          <a:srcRect l="0" r="0" t="18807" b="18807"/>
          <a:stretch/>
        </p:blipFill>
        <p:spPr>
          <a:xfrm>
            <a:off x="6080760" y="1536192"/>
            <a:ext cx="5440680" cy="21214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" y="1572768"/>
            <a:ext cx="5074920" cy="4407408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91440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600" b="1">
                <a:solidFill>
                  <a:srgbClr val="061A33"/>
                </a:solidFill>
              </a:rPr>
              <a:t>Engineering operations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2331720"/>
            <a:ext cx="4315968" cy="2971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None/>
            </a:pPr>
            <a:r>
              <a:rPr sz="1500">
                <a:solidFill>
                  <a:srgbClr val="102643"/>
                </a:solidFill>
                <a:latin typeface="Aptos"/>
              </a:rPr>
              <a:t>• O&amp;M: faults, restoration, maintenance and RE/TE control</a:t>
            </a:r>
            <a:endParaRPr lang="en-US" sz="1150" dirty="0"/>
          </a:p>
          <a:p>
            <a:pPr>
              <a:buNone/>
            </a:pPr>
            <a:r>
              <a:rPr sz="1500">
                <a:solidFill>
                  <a:srgbClr val="102643"/>
                </a:solidFill>
                <a:latin typeface="Aptos"/>
              </a:rPr>
              <a:t>• PC&amp;M: protection, testing and commissioning</a:t>
            </a:r>
          </a:p>
          <a:p>
            <a:pPr>
              <a:buNone/>
            </a:pPr>
            <a:r>
              <a:rPr sz="1500">
                <a:solidFill>
                  <a:srgbClr val="102643"/>
                </a:solidFill>
                <a:latin typeface="Aptos"/>
              </a:rPr>
              <a:t>• P&amp;I: projects, design review and network planning</a:t>
            </a:r>
          </a:p>
        </p:txBody>
      </p:sp>
      <p:sp>
        <p:nvSpPr>
          <p:cNvPr id="11" name="Shape 8"/>
          <p:cNvSpPr/>
          <p:nvPr/>
        </p:nvSpPr>
        <p:spPr>
          <a:xfrm>
            <a:off x="6080760" y="3858768"/>
            <a:ext cx="5440680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355080" y="4096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600" b="1">
                <a:solidFill>
                  <a:srgbClr val="061A33"/>
                </a:solidFill>
              </a:rPr>
              <a:t>Support &amp; network intelligence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55080" y="4462272"/>
            <a:ext cx="461772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None/>
            </a:pPr>
            <a:r>
              <a:rPr sz="1350">
                <a:solidFill>
                  <a:srgbClr val="102643"/>
                </a:solidFill>
                <a:latin typeface="Aptos"/>
              </a:rPr>
              <a:t>• HSE, Stores &amp; Contractors: incidents, materials, work orders and compliance</a:t>
            </a:r>
            <a:endParaRPr lang="en-US" sz="1050" dirty="0"/>
          </a:p>
          <a:p>
            <a:pPr>
              <a:buNone/>
            </a:pPr>
            <a:r>
              <a:rPr sz="1350">
                <a:solidFill>
                  <a:srgbClr val="102643"/>
                </a:solidFill>
                <a:latin typeface="Aptos"/>
              </a:rPr>
              <a:t>• MIS: data validation, load/energy reporting and management outputs</a:t>
            </a:r>
          </a:p>
          <a:p>
            <a:pPr>
              <a:buNone/>
            </a:pPr>
            <a:r>
              <a:rPr sz="1350">
                <a:solidFill>
                  <a:srgbClr val="102643"/>
                </a:solidFill>
                <a:latin typeface="Aptos"/>
              </a:rPr>
              <a:t>• Network maps: feeder responsibility, routes and topology context</a:t>
            </a:r>
          </a:p>
        </p:txBody>
      </p:sp>
      <p:sp>
        <p:nvSpPr>
          <p:cNvPr id="14" name="Text 11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680" i="1">
                <a:solidFill>
                  <a:srgbClr val="7C8B9A"/>
                </a:solidFill>
              </a:rPr>
              <a:t>Source: O&amp;M, PC&amp;M, P&amp;I, HSE, Stores, Contractors, MIS and network-management pages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none"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r>
              <a:rPr sz="850">
                <a:solidFill>
                  <a:srgbClr val="5A6E87"/>
                </a:solidFill>
                <a:latin typeface="Aptos"/>
              </a:rPr>
              <a:t>12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EXECUTIVE MANAGEMENT VISIBILITY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FROM EVENT TO EXECUTIVE VIEW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Leadership dashboards are built into the same operational system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20">
                <a:solidFill>
                  <a:srgbClr val="61758E"/>
                </a:solidFill>
              </a:rPr>
              <a:t>Executive dashboards summarize operating queues, performance, risks and responsibility gaps from the same governed system environment.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12648" y="1527048"/>
            <a:ext cx="6675120" cy="4553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E6"/>
            </a:solidFill>
            <a:prstDash val="solid"/>
          </a:ln>
          <a:effectLst>
            <a:outerShdw sx="100000" sy="100000" kx="0" ky="0" algn="bl" rotWithShape="0" blurRad="19050" dist="762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pic>
        <p:nvPicPr>
          <p:cNvPr id="7" name="Image 0" descr="/mnt/data/kedco_ui/cto.png">    </p:cNvPr>
          <p:cNvPicPr>
            <a:picLocks noChangeAspect="1"/>
          </p:cNvPicPr>
          <p:nvPr/>
        </p:nvPicPr>
        <p:blipFill>
          <a:blip r:embed="rId1"/>
          <a:srcRect l="3893" r="3893" t="0" b="0"/>
          <a:stretch/>
        </p:blipFill>
        <p:spPr>
          <a:xfrm>
            <a:off x="658368" y="1572768"/>
            <a:ext cx="6583680" cy="44622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34656" y="1572768"/>
            <a:ext cx="4005072" cy="4462272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808976" y="18470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1A33"/>
                </a:solidFill>
              </a:rPr>
              <a:t>Executive oversight surfaces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08976" y="2377440"/>
            <a:ext cx="3246120" cy="3090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CTO: head-of-unit snapshot, approvals, technical risks and directorate performance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Head System Operations: control-room activity, trips/outages, switching and system performance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Head O&amp;M: faults/restoration, maintenance programme and regional delivery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Head PC&amp;M: protection feed, trouble reports, transformer try requests and technical assurance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Head P&amp;I: priority projects, network development and delivery controls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3243A"/>
                </a:solidFill>
              </a:rPr>
              <a:t>Head HSE: regional assurance, incidents and corrective actions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i="1" dirty="0">
                <a:solidFill>
                  <a:srgbClr val="7C8B9A"/>
                </a:solidFill>
              </a:rPr>
              <a:t>Source: executive and department-head dashboards in archive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none"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r>
              <a:rPr sz="850">
                <a:solidFill>
                  <a:srgbClr val="5A6E87"/>
                </a:solidFill>
                <a:latin typeface="Aptos"/>
              </a:rPr>
              <a:t>13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sz="830" b="1">
                <a:solidFill>
                  <a:srgbClr val="0F5DA8"/>
                </a:solidFill>
              </a:rPr>
              <a:t>IMPLEMENTATION READINESS &amp; GOVERNANCE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sz="830" b="1">
                <a:solidFill>
                  <a:srgbClr val="00A88F"/>
                </a:solidFill>
              </a:rPr>
              <a:t>VERIFIED PLATFORM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500" b="1">
                <a:solidFill>
                  <a:srgbClr val="061A33"/>
                </a:solidFill>
                <a:latin typeface="Aptos Display"/>
              </a:rPr>
              <a:t>The consolidated platform passed broad technical verification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20">
                <a:solidFill>
                  <a:srgbClr val="61758E"/>
                </a:solidFill>
              </a:rPr>
              <a:t>Verification covers build quality, routing, dependencies, page serving, load-flow, Analyzer/TMO and eForms, with governance controls built into the operating model.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58368" y="1664208"/>
            <a:ext cx="33832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41248" y="182880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3243A"/>
                </a:solidFill>
              </a:rPr>
              <a:t>Backend TypeScript typecheck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2907792" y="189280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AD66"/>
                </a:solidFill>
              </a:rPr>
              <a:t>PASS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2544" y="1664208"/>
            <a:ext cx="33832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35424" y="182880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3243A"/>
                </a:solidFill>
              </a:rPr>
              <a:t>Backend production build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6601968" y="189280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AD66"/>
                </a:solidFill>
              </a:rPr>
              <a:t>PASS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664208"/>
            <a:ext cx="33832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0" y="1828800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3243A"/>
                </a:solidFill>
              </a:rPr>
              <a:t>Operational pages with account controls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10296144" y="189280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AD66"/>
                </a:solidFill>
              </a:rPr>
              <a:t>26 / 26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33832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1248" y="3072384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3243A"/>
                </a:solidFill>
              </a:rPr>
              <a:t>Role routing targets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2907792" y="31363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AD66"/>
                </a:solidFill>
              </a:rPr>
              <a:t>52 / 52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52544" y="2907792"/>
            <a:ext cx="33832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535424" y="3072384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3243A"/>
                </a:solidFill>
              </a:rPr>
              <a:t>Application dependencies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6601968" y="31363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5DA8"/>
                </a:solidFill>
              </a:rPr>
              <a:t>206 checked · 0 broken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0" y="2907792"/>
            <a:ext cx="33832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29600" y="3072384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960" b="1">
                <a:solidFill>
                  <a:srgbClr val="13243A"/>
                </a:solidFill>
              </a:rPr>
              <a:t>Audit events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10296144" y="31363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sz="1150" b="1">
                <a:solidFill>
                  <a:srgbClr val="2EAD66"/>
                </a:solidFill>
              </a:rPr>
              <a:t>259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" y="4151376"/>
            <a:ext cx="33832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41248" y="4315968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3243A"/>
                </a:solidFill>
              </a:rPr>
              <a:t>HTML pages served by backend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2907792" y="4379976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AD66"/>
                </a:solidFill>
              </a:rPr>
              <a:t>30 / 30 HTTP 200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52544" y="4151376"/>
            <a:ext cx="33832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35424" y="4315968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3243A"/>
                </a:solidFill>
              </a:rPr>
              <a:t>Integration checks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6601968" y="4379976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AD66"/>
                </a:solidFill>
              </a:rPr>
              <a:t>12 / 12 PASS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151376"/>
            <a:ext cx="338328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229600" y="4315968"/>
            <a:ext cx="2029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3243A"/>
                </a:solidFill>
              </a:rPr>
              <a:t>System Operations eForms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10296144" y="4379976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EAD66"/>
                </a:solidFill>
              </a:rPr>
              <a:t>6 / 6 PASS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8368" y="5559552"/>
            <a:ext cx="10927080" cy="475488"/>
          </a:xfrm>
          <a:prstGeom prst="roundRect">
            <a:avLst/>
          </a:prstGeom>
          <a:solidFill>
            <a:srgbClr val="E6F7EF"/>
          </a:solidFill>
          <a:ln w="12700">
            <a:solidFill>
              <a:srgbClr val="BEE8D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96112" y="5705856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070" b="1">
                <a:solidFill>
                  <a:srgbClr val="1B7A4A"/>
                </a:solidFill>
              </a:rPr>
              <a:t>Overall verification result: PASS — build, routing, account controls, operational pages, eForms and integration paths were successfully validated.</a:t>
            </a:r>
            <a:endParaRPr lang="en-US" sz="1070" dirty="0"/>
          </a:p>
        </p:txBody>
      </p:sp>
      <p:sp>
        <p:nvSpPr>
          <p:cNvPr id="35" name="Text 33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680" i="1">
                <a:solidFill>
                  <a:srgbClr val="7C8B9A"/>
                </a:solidFill>
              </a:rPr>
              <a:t>Source: internal integration, cleanup and verification reports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none"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r>
              <a:rPr sz="850">
                <a:solidFill>
                  <a:srgbClr val="5A6E87"/>
                </a:solidFill>
                <a:latin typeface="Aptos"/>
              </a:rPr>
              <a:t>14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F5DA8"/>
                </a:solidFill>
              </a:rPr>
              <a:t>MANAGEMENT BENEFITS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0A88F"/>
                </a:solidFill>
              </a:rPr>
              <a:t>PROPOSED OPERATING IMPACT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61A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value is operational discipline, visibility and speed—not a cosmetic dashboard upgrade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1758E"/>
                </a:solidFill>
              </a:rPr>
              <a:t>Benefits below describe the operating change enabled by the platform; no unsupported financial percentage or ROI claim is assumed.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804672" y="16002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4B4B"/>
                </a:solidFill>
              </a:rPr>
              <a:t>Before / operating risk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01968" y="16002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AD66"/>
                </a:solidFill>
              </a:rPr>
              <a:t>Platform-enabled operating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61A33"/>
                </a:solidFill>
              </a:rPr>
              <a:t>Operational data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93392" y="1929384"/>
            <a:ext cx="3840480" cy="420624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1CDC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157984" y="202996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B3A3A"/>
                </a:solidFill>
              </a:rPr>
              <a:t>Repeated manual entry and disconnected files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943600" y="1984248"/>
            <a:ext cx="411480" cy="292608"/>
          </a:xfrm>
          <a:prstGeom prst="chevron">
            <a:avLst/>
          </a:prstGeom>
          <a:solidFill>
            <a:srgbClr val="B4C7D9"/>
          </a:solidFill>
          <a:ln w="12700">
            <a:solidFill>
              <a:srgbClr val="B4C7D9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92240" y="1929384"/>
            <a:ext cx="4663440" cy="420624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C6E9D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56832" y="2029968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C7046"/>
                </a:solidFill>
              </a:rPr>
              <a:t>Enter once, synchronize and reuse across views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685800" y="250545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61A33"/>
                </a:solidFill>
              </a:rPr>
              <a:t>Fault / outage coordination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93392" y="2468880"/>
            <a:ext cx="3840480" cy="420624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1CDC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157984" y="256946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B3A3A"/>
                </a:solidFill>
              </a:rPr>
              <a:t>Phone/chat/file-dependent handoffs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5943600" y="2523744"/>
            <a:ext cx="411480" cy="292608"/>
          </a:xfrm>
          <a:prstGeom prst="chevron">
            <a:avLst/>
          </a:prstGeom>
          <a:solidFill>
            <a:srgbClr val="B4C7D9"/>
          </a:solidFill>
          <a:ln w="12700">
            <a:solidFill>
              <a:srgbClr val="B4C7D9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92240" y="2468880"/>
            <a:ext cx="4663440" cy="420624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C6E9D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56832" y="2569464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C7046"/>
                </a:solidFill>
              </a:rPr>
              <a:t>Structured event, responsibility and restoration trail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685800" y="304495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61A33"/>
                </a:solidFill>
              </a:rPr>
              <a:t>Approvals &amp; eForms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93392" y="3008376"/>
            <a:ext cx="3840480" cy="420624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1CDCD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157984" y="310896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B3A3A"/>
                </a:solidFill>
              </a:rPr>
              <a:t>Paper or loosely tracked document movement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5943600" y="3063240"/>
            <a:ext cx="411480" cy="292608"/>
          </a:xfrm>
          <a:prstGeom prst="chevron">
            <a:avLst/>
          </a:prstGeom>
          <a:solidFill>
            <a:srgbClr val="B4C7D9"/>
          </a:solidFill>
          <a:ln w="12700">
            <a:solidFill>
              <a:srgbClr val="B4C7D9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492240" y="3008376"/>
            <a:ext cx="4663440" cy="420624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C6E9D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656832" y="3108960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C7046"/>
                </a:solidFill>
              </a:rPr>
              <a:t>Digital routing, attachments, receipt, feedback and history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685800" y="35844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61A33"/>
                </a:solidFill>
              </a:rPr>
              <a:t>Feeder performance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993392" y="3547872"/>
            <a:ext cx="3840480" cy="420624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1CDCD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157984" y="364845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B3A3A"/>
                </a:solidFill>
              </a:rPr>
              <a:t>Time-consuming workbook reconciliation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0" y="3602736"/>
            <a:ext cx="411480" cy="292608"/>
          </a:xfrm>
          <a:prstGeom prst="chevron">
            <a:avLst/>
          </a:prstGeom>
          <a:solidFill>
            <a:srgbClr val="B4C7D9"/>
          </a:solidFill>
          <a:ln w="12700">
            <a:solidFill>
              <a:srgbClr val="B4C7D9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492240" y="3547872"/>
            <a:ext cx="4663440" cy="420624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C6E9D4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656832" y="3648456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C7046"/>
                </a:solidFill>
              </a:rPr>
              <a:t>Repeatable KPI analysis and monthly archive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685800" y="41239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61A33"/>
                </a:solidFill>
              </a:rPr>
              <a:t>Management visibility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993392" y="4087368"/>
            <a:ext cx="3840480" cy="420624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1CDCD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157984" y="418795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B3A3A"/>
                </a:solidFill>
              </a:rPr>
              <a:t>Periodic compilation from multiple sources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5943600" y="4142232"/>
            <a:ext cx="411480" cy="292608"/>
          </a:xfrm>
          <a:prstGeom prst="chevron">
            <a:avLst/>
          </a:prstGeom>
          <a:solidFill>
            <a:srgbClr val="B4C7D9"/>
          </a:solidFill>
          <a:ln w="12700">
            <a:solidFill>
              <a:srgbClr val="B4C7D9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492240" y="4087368"/>
            <a:ext cx="4663440" cy="420624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C6E9D4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656832" y="4187952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C7046"/>
                </a:solidFill>
              </a:rPr>
              <a:t>Department and executive dashboards from shared records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685800" y="46634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61A33"/>
                </a:solidFill>
              </a:rPr>
              <a:t>Historical retrieval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993392" y="4626864"/>
            <a:ext cx="3840480" cy="420624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1CDCD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157984" y="47274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B3A3A"/>
                </a:solidFill>
              </a:rPr>
              <a:t>Records distributed across devices and folders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5943600" y="4681728"/>
            <a:ext cx="411480" cy="292608"/>
          </a:xfrm>
          <a:prstGeom prst="chevron">
            <a:avLst/>
          </a:prstGeom>
          <a:solidFill>
            <a:srgbClr val="B4C7D9"/>
          </a:solidFill>
          <a:ln w="12700">
            <a:solidFill>
              <a:srgbClr val="B4C7D9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492240" y="4626864"/>
            <a:ext cx="4663440" cy="420624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C6E9D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656832" y="4727448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C7046"/>
                </a:solidFill>
              </a:rPr>
              <a:t>system platform tables, files, snapshots and backups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685800" y="520293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61A33"/>
                </a:solidFill>
              </a:rPr>
              <a:t>Accountability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993392" y="5166360"/>
            <a:ext cx="3840480" cy="420624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F1CDCD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157984" y="526694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B3A3A"/>
                </a:solidFill>
              </a:rPr>
              <a:t>Harder to reconstruct action ownership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5943600" y="5221224"/>
            <a:ext cx="411480" cy="292608"/>
          </a:xfrm>
          <a:prstGeom prst="chevron">
            <a:avLst/>
          </a:prstGeom>
          <a:solidFill>
            <a:srgbClr val="B4C7D9"/>
          </a:solidFill>
          <a:ln w="12700">
            <a:solidFill>
              <a:srgbClr val="B4C7D9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6492240" y="5166360"/>
            <a:ext cx="4663440" cy="420624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C6E9D4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656832" y="5266944"/>
            <a:ext cx="4315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C7046"/>
                </a:solidFill>
              </a:rPr>
              <a:t>User, role, time, feeder, status and outcome traceability</a:t>
            </a:r>
            <a:endParaRPr lang="en-US" sz="860" dirty="0"/>
          </a:p>
        </p:txBody>
      </p:sp>
      <p:sp>
        <p:nvSpPr>
          <p:cNvPr id="50" name="Text 48"/>
          <p:cNvSpPr/>
          <p:nvPr/>
        </p:nvSpPr>
        <p:spPr>
          <a:xfrm>
            <a:off x="1143000" y="59161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5DA8"/>
                </a:solidFill>
              </a:rPr>
              <a:t>Strategic result: faster coordination, stronger data discipline, clearer responsibility and a more reliable management information chain.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none"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r>
              <a:rPr sz="850">
                <a:solidFill>
                  <a:srgbClr val="5A6E87"/>
                </a:solidFill>
                <a:latin typeface="Aptos"/>
              </a:rPr>
              <a:t>15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83464"/>
            <a:ext cx="2286000" cy="256032"/>
          </a:xfrm>
          <a:prstGeom prst="rect">
            <a:avLst/>
          </a:prstGeom>
          <a:solidFill>
            <a:srgbClr val="E7F2FD"/>
          </a:solidFill>
          <a:ln>
            <a:solidFill>
              <a:srgbClr val="E7F2F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sz="830" b="1">
                <a:solidFill>
                  <a:srgbClr val="0F5DA8"/>
                </a:solidFill>
              </a:rPr>
              <a:t>IMPLEMENTATION &amp; SCALE-UP</a:t>
            </a:r>
            <a:endParaRPr lang="en-US" sz="830" dirty="0"/>
          </a:p>
        </p:txBody>
      </p:sp>
      <p:sp>
        <p:nvSpPr>
          <p:cNvPr id="3" name="Text 1"/>
          <p:cNvSpPr/>
          <p:nvPr/>
        </p:nvSpPr>
        <p:spPr>
          <a:xfrm>
            <a:off x="9692640" y="283464"/>
            <a:ext cx="1874520" cy="256032"/>
          </a:xfrm>
          <a:prstGeom prst="rect">
            <a:avLst/>
          </a:prstGeom>
          <a:solidFill>
            <a:srgbClr val="E5F8F4"/>
          </a:solidFill>
          <a:ln>
            <a:solidFill>
              <a:srgbClr val="E5F8F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sz="830" b="1">
                <a:solidFill>
                  <a:srgbClr val="00A88F"/>
                </a:solidFill>
              </a:rPr>
              <a:t>CONTROLLED ROLLOUT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566928" y="5303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500" b="1">
                <a:solidFill>
                  <a:srgbClr val="061A33"/>
                </a:solidFill>
                <a:latin typeface="Aptos Display"/>
              </a:rPr>
              <a:t>Deploy in governed phases, then expand on the same platform foundation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10241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20">
                <a:solidFill>
                  <a:srgbClr val="61758E"/>
                </a:solidFill>
              </a:rPr>
              <a:t>Implementation can focus on controlled configuration, operational validation, user readiness and progressive expansion without disrupting technical operations.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1298448" y="1664208"/>
            <a:ext cx="585216" cy="585216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389888" y="1847088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83664" y="1947672"/>
            <a:ext cx="1673352" cy="0"/>
          </a:xfrm>
          <a:prstGeom prst="line">
            <a:avLst/>
          </a:prstGeom>
          <a:noFill/>
          <a:ln w="25400">
            <a:solidFill>
              <a:srgbClr val="A9C2D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58368" y="2496312"/>
            <a:ext cx="1993392" cy="26974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274320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1A33"/>
                </a:solidFill>
              </a:rPr>
              <a:t>Baseline &amp; preserve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493008"/>
            <a:ext cx="166420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sz="920">
                <a:solidFill>
                  <a:srgbClr val="13243A"/>
                </a:solidFill>
              </a:rPr>
              <a:t>Preserve the current operational dataset, confirm the live implementation baseline and establish a controlled release point.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538728" y="1664208"/>
            <a:ext cx="585216" cy="585216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30168" y="1847088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23944" y="1947672"/>
            <a:ext cx="1673352" cy="0"/>
          </a:xfrm>
          <a:prstGeom prst="line">
            <a:avLst/>
          </a:prstGeom>
          <a:noFill/>
          <a:ln w="25400">
            <a:solidFill>
              <a:srgbClr val="A9C2D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898648" y="2496312"/>
            <a:ext cx="1993392" cy="26974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063240" y="274320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1A33"/>
                </a:solidFill>
              </a:rPr>
              <a:t>Configure &amp; validate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63240" y="3493008"/>
            <a:ext cx="166420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43A"/>
                </a:solidFill>
              </a:rPr>
              <a:t>Confirm users, roles, regions, stations, feeders, routing authorities, forms and operating rules.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779008" y="1664208"/>
            <a:ext cx="585216" cy="585216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870448" y="1847088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64224" y="1947672"/>
            <a:ext cx="1673352" cy="0"/>
          </a:xfrm>
          <a:prstGeom prst="line">
            <a:avLst/>
          </a:prstGeom>
          <a:noFill/>
          <a:ln w="25400">
            <a:solidFill>
              <a:srgbClr val="A9C2D8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138928" y="2496312"/>
            <a:ext cx="1993392" cy="26974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303520" y="274320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1A33"/>
                </a:solidFill>
              </a:rPr>
              <a:t>Pilot operations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3493008"/>
            <a:ext cx="166420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43A"/>
                </a:solidFill>
              </a:rPr>
              <a:t>Deploy with selected control-room / technical teams; validate real data, workflows and management outputs.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019288" y="1664208"/>
            <a:ext cx="585216" cy="585216"/>
          </a:xfrm>
          <a:prstGeom prst="ellipse">
            <a:avLst/>
          </a:prstGeom>
          <a:solidFill>
            <a:srgbClr val="0F5DA8"/>
          </a:solidFill>
          <a:ln w="12700">
            <a:solidFill>
              <a:srgbClr val="0F5DA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110728" y="1847088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604504" y="1947672"/>
            <a:ext cx="1673352" cy="0"/>
          </a:xfrm>
          <a:prstGeom prst="line">
            <a:avLst/>
          </a:prstGeom>
          <a:noFill/>
          <a:ln w="25400">
            <a:solidFill>
              <a:srgbClr val="A9C2D8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379208" y="2496312"/>
            <a:ext cx="1993392" cy="26974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543800" y="274320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1A33"/>
                </a:solidFill>
              </a:rPr>
              <a:t>Directorate rollout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43800" y="3493008"/>
            <a:ext cx="166420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3243A"/>
                </a:solidFill>
              </a:rPr>
              <a:t>Extend to O&amp;M, PC&amp;M, P&amp;I, HSE, MIS, Stores, Contractors and executive dashboards.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10259568" y="1664208"/>
            <a:ext cx="585216" cy="585216"/>
          </a:xfrm>
          <a:prstGeom prst="ellipse">
            <a:avLst/>
          </a:prstGeom>
          <a:solidFill>
            <a:srgbClr val="2EAD66"/>
          </a:solidFill>
          <a:ln w="12700">
            <a:solidFill>
              <a:srgbClr val="2EAD66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351008" y="1847088"/>
            <a:ext cx="393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619488" y="2496312"/>
            <a:ext cx="1993392" cy="269748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784080" y="2743200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400" b="1">
                <a:solidFill>
                  <a:srgbClr val="061A33"/>
                </a:solidFill>
              </a:rPr>
              <a:t>Scale &amp; integrate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784080" y="3493008"/>
            <a:ext cx="1664208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sz="920">
                <a:solidFill>
                  <a:srgbClr val="13243A"/>
                </a:solidFill>
              </a:rPr>
              <a:t>Expand approved hosting, telemetry/SCADA interfaces, mobile field execution, advanced analytics and future enterprise integrations.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58368" y="5504688"/>
            <a:ext cx="10927080" cy="493776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CE5E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96112" y="566928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020" b="1">
                <a:solidFill>
                  <a:srgbClr val="D84B4B"/>
                </a:solidFill>
              </a:rPr>
              <a:t>Deployment principle: preserve operational records, validate configuration and expand through controlled management checkpoints.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603504" y="6327648"/>
            <a:ext cx="905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680" i="1">
                <a:solidFill>
                  <a:srgbClr val="7C8B9A"/>
                </a:solidFill>
              </a:rPr>
              <a:t>Source: implementation guidance and application architecture review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wrap="none"/>
          <a:lstStyle>
            <a:lvl1pPr>
              <a:defRPr sz="700">
                <a:solidFill>
                  <a:srgbClr val="65758A"/>
                </a:solidFill>
              </a:defRPr>
            </a:lvl1pPr>
          </a:lstStyle>
          <a:p>
            <a:pPr algn="r"/>
            <a:r>
              <a:rPr sz="850">
                <a:solidFill>
                  <a:srgbClr val="5A6E87"/>
                </a:solidFill>
                <a:latin typeface="Aptos"/>
              </a:rPr>
              <a:t>16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edco_app_extract/KEDCO-Automation-LOCAL-STORAGE-COMPLETE/frontend/assets/kedco-landing-slide-03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>
              <a:alpha val="82000"/>
            </a:srgbClr>
          </a:solidFill>
          <a:ln w="12700">
            <a:solidFill>
              <a:srgbClr val="061A33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0" y="0"/>
            <a:ext cx="6995160" cy="6858000"/>
          </a:xfrm>
          <a:prstGeom prst="rect">
            <a:avLst/>
          </a:prstGeom>
          <a:solidFill>
            <a:srgbClr val="061A33">
              <a:alpha val="90000"/>
            </a:srgbClr>
          </a:solidFill>
          <a:ln w="12700">
            <a:solidFill>
              <a:srgbClr val="061A33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1" descr="/mnt/data/kedco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" y="457200"/>
            <a:ext cx="1889760" cy="5669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1389888"/>
            <a:ext cx="2194560" cy="256032"/>
          </a:xfrm>
          <a:prstGeom prst="rect">
            <a:avLst/>
          </a:prstGeom>
          <a:solidFill>
            <a:srgbClr val="F0C94D"/>
          </a:solidFill>
          <a:ln>
            <a:solidFill>
              <a:srgbClr val="F0C94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61A33"/>
                </a:solidFill>
              </a:rPr>
              <a:t>EXECUTIVE CALL TO ACTION</a:t>
            </a:r>
            <a:endParaRPr lang="en-US" sz="830" dirty="0"/>
          </a:p>
        </p:txBody>
      </p:sp>
      <p:sp>
        <p:nvSpPr>
          <p:cNvPr id="7" name="Text 3"/>
          <p:cNvSpPr/>
          <p:nvPr/>
        </p:nvSpPr>
        <p:spPr>
          <a:xfrm>
            <a:off x="685800" y="18745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 strong investment is one that improves the operating system of the business.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713232" y="3218688"/>
            <a:ext cx="5532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300">
                <a:solidFill>
                  <a:srgbClr val="E5EEF8"/>
                </a:solidFill>
              </a:rPr>
              <a:t>KEDCO Technical Automation already demonstrates the core platform, module breadth, workflow logic, secure data persistence, role control and verified integration paths required for a controlled implementation programme.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713232" y="4480560"/>
            <a:ext cx="5440680" cy="932688"/>
          </a:xfrm>
          <a:prstGeom prst="roundRect">
            <a:avLst/>
          </a:prstGeom>
          <a:solidFill>
            <a:srgbClr val="0B2D57">
              <a:alpha val="92000"/>
            </a:srgbClr>
          </a:solidFill>
          <a:ln w="12700">
            <a:solidFill>
              <a:srgbClr val="5F88B6">
                <a:alpha val="7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932688" y="469087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B21A"/>
                </a:solidFill>
              </a:rPr>
              <a:t>Recommended management action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932688" y="5020056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Authorize a formal implementation / pilot engagement, preserve the current operational dataset, confirm production scope and execute a governed rollout with management checkpoints.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13232" y="614476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E6B21A"/>
                </a:solidFill>
              </a:rPr>
              <a:t>YAJIB SMART SOLUTION UNIVERSAL LIMITED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315200" y="62362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9E7F5"/>
                </a:solidFill>
              </a:rPr>
              <a:t>KEDCO Technical Automation · Executive Management Proposal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YAJIB SMART SOLUTION UNIVERSAL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KEDCO Technical Automation Platform</dc:title>
  <dc:subject>KEDCO Technical Automation Executive Management &amp; Contract-Award Proposal</dc:subject>
  <dc:creator>YAJIB SMART SOLUTION UNIVERSAL LIMITED</dc:creator>
  <cp:lastModifiedBy>YAJIB SMART SOLUTION UNIVERSAL LIMITED</cp:lastModifiedBy>
  <cp:revision>1</cp:revision>
  <dcterms:created xsi:type="dcterms:W3CDTF">2026-09-26T13:09:46Z</dcterms:created>
  <dcterms:modified xsi:type="dcterms:W3CDTF">2026-09-26T13:09:46Z</dcterms:modified>
</cp:coreProperties>
</file>